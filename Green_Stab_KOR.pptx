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media/image9.jpg" ContentType="image/png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omments/modernComment_107_0.xml" ContentType="application/vnd.ms-powerpoint.comment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59" r:id="rId6"/>
    <p:sldId id="266" r:id="rId7"/>
    <p:sldId id="261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a시네마B" panose="02020600000000000000" pitchFamily="18" charset="-127"/>
      <p:regular r:id="rId13"/>
    </p:embeddedFont>
    <p:embeddedFont>
      <p:font typeface="a시네마L" panose="02020600000000000000" pitchFamily="18" charset="-127"/>
      <p:regular r:id="rId14"/>
    </p:embeddedFont>
    <p:embeddedFont>
      <p:font typeface="Lora" pitchFamily="2" charset="0"/>
      <p:regular r:id="rId15"/>
      <p:bold r:id="rId16"/>
      <p:italic r:id="rId17"/>
      <p:boldItalic r:id="rId18"/>
    </p:embeddedFont>
    <p:embeddedFont>
      <p:font typeface="Vladimir Script" panose="03050402040407070305" pitchFamily="66" charset="0"/>
      <p:regular r:id="rId19"/>
    </p:embeddedFont>
    <p:embeddedFont>
      <p:font typeface="YouMurderer BB" panose="02000508000000020004" pitchFamily="2" charset="0"/>
      <p:regular r:id="rId20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0E326A-8761-4D25-D5FE-87B9CAD94450}" name="CorinE Poor" initials="CP" userId="a45d6f74dc14bc74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0E43C"/>
    <a:srgbClr val="8EB767"/>
    <a:srgbClr val="10893E"/>
    <a:srgbClr val="2B8D0D"/>
    <a:srgbClr val="FEF5E7"/>
    <a:srgbClr val="538C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420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comments/modernComment_107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C003DFD-795D-4509-8242-31A14B20AA73}" authorId="{C40E326A-8761-4D25-D5FE-87B9CAD94450}" created="2025-07-17T07:48:32.151">
    <pc:sldMkLst xmlns:pc="http://schemas.microsoft.com/office/powerpoint/2013/main/command">
      <pc:docMk/>
      <pc:sldMk cId="0" sldId="263"/>
    </pc:sldMkLst>
    <p188:txBody>
      <a:bodyPr/>
      <a:lstStyle/>
      <a:p>
        <a:r>
          <a:rPr lang="ko-KR" altLang="en-US"/>
          <a:t>용어	의미 및 설명
Revenue	매출 또는 수익을 의미하며, 기업이 제품이나 서비스를 판매하여 얻은 전체 금액을 뜻합니다. 경영성과 지표에서 가장 위에 위치합니다.
COGS	**Cost of Goods Sold(매출원가)**의 약자입니다. 판매된 제품을 생산하는 데 직접적으로 들어간 원가(재료비, 직접노무비 등)를 말합니다.
SG&amp;A	**Selling, General and Administrative Expenses(판매 및 일반관리비)**의 약자입니다. 제품 판매와 직접 관련된 비용(광고, 급여, 사무실 유지비 등)의 총합을 의미합니다. 일반적으로 "SGSA" 대신 "SG&amp;A"가 더 널리 쓰입니다.
EBITA	**Earnings Before Interest, Taxes and Amortization(이자, 세금, 감가상각 전 이익)**의 약자입니다. 기업의 영업활동으로 벌어들인 실제 이익을 나타내며, 금융비용과 세금, 감가상각비 차감 전 이익입니다. 기업의 실질적인 영업성과를 비교할 때 활용됩니다.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6471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45DD4-134C-5FE3-9EA4-64E823CBD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E98D97-C104-D410-D2FA-39B895A1B3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7E4BBF-45F3-F3DF-2DBC-73E7DB636D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1CC37A-1FCB-1D09-7321-7919DD2C38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858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effectLst/>
              </a:rPr>
              <a:t>Revenue: </a:t>
            </a:r>
            <a:r>
              <a:rPr lang="ko-KR" altLang="en-US" b="0">
                <a:effectLst/>
              </a:rPr>
              <a:t>매출</a:t>
            </a:r>
            <a:br>
              <a:rPr lang="en-US" altLang="ko-KR" b="0">
                <a:effectLst/>
              </a:rPr>
            </a:br>
            <a:r>
              <a:rPr lang="en-US" altLang="ko-KR">
                <a:effectLst/>
              </a:rPr>
              <a:t>COGS: Cost of Goods Sold(</a:t>
            </a:r>
            <a:r>
              <a:rPr lang="ko-KR" altLang="en-US">
                <a:effectLst/>
              </a:rPr>
              <a:t>매출원가</a:t>
            </a:r>
            <a:r>
              <a:rPr lang="en-US" altLang="ko-KR">
                <a:effectLst/>
              </a:rPr>
              <a:t>)</a:t>
            </a:r>
            <a:br>
              <a:rPr lang="en-US" altLang="ko-KR">
                <a:effectLst/>
              </a:rPr>
            </a:br>
            <a:r>
              <a:rPr lang="en-US" altLang="ko-KR">
                <a:effectLst/>
              </a:rPr>
              <a:t>SG&amp;A: Selling, General and Administrative Expenses(</a:t>
            </a:r>
            <a:r>
              <a:rPr lang="ko-KR" altLang="en-US">
                <a:effectLst/>
              </a:rPr>
              <a:t>판매 및 일반관리비</a:t>
            </a:r>
            <a:r>
              <a:rPr lang="en-US" altLang="ko-KR">
                <a:effectLst/>
              </a:rPr>
              <a:t>)</a:t>
            </a:r>
            <a:br>
              <a:rPr lang="en-US" altLang="ko-KR">
                <a:effectLst/>
              </a:rPr>
            </a:br>
            <a:r>
              <a:rPr lang="en-US" altLang="ko-KR">
                <a:effectLst/>
              </a:rPr>
              <a:t>EBITA: Earnings Before Interest, Taxes and Amortization(</a:t>
            </a:r>
            <a:r>
              <a:rPr lang="ko-KR" altLang="en-US">
                <a:effectLst/>
              </a:rPr>
              <a:t>이자</a:t>
            </a:r>
            <a:r>
              <a:rPr lang="en-US" altLang="ko-KR">
                <a:effectLst/>
              </a:rPr>
              <a:t>, </a:t>
            </a:r>
            <a:r>
              <a:rPr lang="ko-KR" altLang="en-US">
                <a:effectLst/>
              </a:rPr>
              <a:t>세금</a:t>
            </a:r>
            <a:r>
              <a:rPr lang="en-US" altLang="ko-KR">
                <a:effectLst/>
              </a:rPr>
              <a:t>, </a:t>
            </a:r>
            <a:r>
              <a:rPr lang="ko-KR" altLang="en-US">
                <a:effectLst/>
              </a:rPr>
              <a:t>감가상각 전 이익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BC0D1-91EC-D605-2ABC-27CB494EE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BA1B95-10A6-F455-054B-BABF3E759B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08839F-A8B9-4774-9CD1-C059DE8E7D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7C803B-716C-4C11-3241-4708A2A169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707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hyperlink" Target="https://www.custommarketinsights.com/press-releases/home-gardening-market-size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www.linkedin.com/pulse/south-korea-smart-garden-system-market-2026-size-trends-key-yijnc/" TargetMode="External"/><Relationship Id="rId5" Type="http://schemas.openxmlformats.org/officeDocument/2006/relationships/hyperlink" Target="https://www.datainsightsmarket.com/reports/indoor-self-growing-garden-1372849" TargetMode="External"/><Relationship Id="rId4" Type="http://schemas.openxmlformats.org/officeDocument/2006/relationships/hyperlink" Target="https://www.zionmarketresearch.com/report/gardening-market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7_0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0219" y="3777318"/>
            <a:ext cx="7890164" cy="1198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650"/>
              </a:lnSpc>
              <a:buNone/>
            </a:pPr>
            <a:r>
              <a:rPr lang="en-US" sz="16600">
                <a:solidFill>
                  <a:srgbClr val="538C0E"/>
                </a:solidFill>
                <a:latin typeface="YouMurderer BB" panose="02000508000000020004" pitchFamily="2" charset="0"/>
                <a:ea typeface="Lora" pitchFamily="34" charset="-122"/>
                <a:cs typeface="Lora" pitchFamily="34" charset="-120"/>
              </a:rPr>
              <a:t>Green Stab!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317218" y="652820"/>
            <a:ext cx="7482364" cy="139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ko-KR" altLang="en-US" sz="4350">
                <a:solidFill>
                  <a:srgbClr val="38512F"/>
                </a:solidFill>
                <a:latin typeface="a시네마B" panose="02020600000000000000" pitchFamily="18" charset="-127"/>
                <a:ea typeface="a시네마B" panose="02020600000000000000" pitchFamily="18" charset="-127"/>
                <a:cs typeface="Lora" pitchFamily="34" charset="-120"/>
              </a:rPr>
              <a:t>문제정의</a:t>
            </a:r>
            <a:endParaRPr lang="en-US" altLang="ko-KR" sz="4350">
              <a:solidFill>
                <a:srgbClr val="38512F"/>
              </a:solidFill>
              <a:latin typeface="a시네마B" panose="02020600000000000000" pitchFamily="18" charset="-127"/>
              <a:ea typeface="a시네마B" panose="02020600000000000000" pitchFamily="18" charset="-127"/>
              <a:cs typeface="Lora" pitchFamily="34" charset="-120"/>
            </a:endParaRPr>
          </a:p>
          <a:p>
            <a:pPr marL="0" indent="0" algn="l">
              <a:lnSpc>
                <a:spcPts val="5450"/>
              </a:lnSpc>
              <a:buNone/>
            </a:pPr>
            <a:r>
              <a:rPr lang="en-US" sz="4350">
                <a:solidFill>
                  <a:srgbClr val="38512F"/>
                </a:solidFill>
                <a:latin typeface="a시네마B" panose="02020600000000000000" pitchFamily="18" charset="-127"/>
                <a:ea typeface="a시네마B" panose="02020600000000000000" pitchFamily="18" charset="-127"/>
                <a:cs typeface="Lora" pitchFamily="34" charset="-120"/>
              </a:rPr>
              <a:t>   - </a:t>
            </a:r>
            <a:r>
              <a:rPr lang="ko-KR" altLang="en-US" sz="4350">
                <a:solidFill>
                  <a:srgbClr val="38512F"/>
                </a:solidFill>
                <a:latin typeface="a시네마B" panose="02020600000000000000" pitchFamily="18" charset="-127"/>
                <a:ea typeface="a시네마B" panose="02020600000000000000" pitchFamily="18" charset="-127"/>
                <a:cs typeface="Lora" pitchFamily="34" charset="-120"/>
              </a:rPr>
              <a:t>식물관리 실패</a:t>
            </a:r>
            <a:endParaRPr lang="en-US" sz="4350">
              <a:solidFill>
                <a:srgbClr val="38512F"/>
              </a:solidFill>
              <a:latin typeface="a시네마B" panose="02020600000000000000" pitchFamily="18" charset="-127"/>
              <a:ea typeface="a시네마B" panose="02020600000000000000" pitchFamily="18" charset="-127"/>
              <a:cs typeface="Lora" pitchFamily="34" charset="-12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317218" y="2730937"/>
            <a:ext cx="7482364" cy="121920"/>
          </a:xfrm>
          <a:prstGeom prst="roundRect">
            <a:avLst>
              <a:gd name="adj" fmla="val 29208"/>
            </a:avLst>
          </a:prstGeom>
          <a:solidFill>
            <a:srgbClr val="38512F"/>
          </a:solidFill>
          <a:ln/>
        </p:spPr>
      </p:sp>
      <p:sp>
        <p:nvSpPr>
          <p:cNvPr id="5" name="Shape 2"/>
          <p:cNvSpPr/>
          <p:nvPr/>
        </p:nvSpPr>
        <p:spPr>
          <a:xfrm>
            <a:off x="9702344" y="2405420"/>
            <a:ext cx="712113" cy="712113"/>
          </a:xfrm>
          <a:prstGeom prst="roundRect">
            <a:avLst>
              <a:gd name="adj" fmla="val 128407"/>
            </a:avLst>
          </a:prstGeom>
          <a:solidFill>
            <a:srgbClr val="38512F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5942" y="2583418"/>
            <a:ext cx="284798" cy="35599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84990" y="3354824"/>
            <a:ext cx="2792968" cy="349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ko-KR" altLang="en-US" sz="2150">
                <a:solidFill>
                  <a:srgbClr val="3A3630"/>
                </a:solidFill>
                <a:latin typeface="a시네마B" panose="02020600000000000000" pitchFamily="18" charset="-127"/>
                <a:ea typeface="a시네마B" panose="02020600000000000000" pitchFamily="18" charset="-127"/>
              </a:rPr>
              <a:t>지식 부족</a:t>
            </a:r>
            <a:endParaRPr lang="en-US" sz="2150" dirty="0">
              <a:latin typeface="a시네마B" panose="02020600000000000000" pitchFamily="18" charset="-127"/>
              <a:ea typeface="a시네마B" panose="02020600000000000000" pitchFamily="18" charset="-127"/>
            </a:endParaRPr>
          </a:p>
        </p:txBody>
      </p:sp>
      <p:sp>
        <p:nvSpPr>
          <p:cNvPr id="8" name="Text 4"/>
          <p:cNvSpPr/>
          <p:nvPr/>
        </p:nvSpPr>
        <p:spPr>
          <a:xfrm>
            <a:off x="6584990" y="3846314"/>
            <a:ext cx="6946821" cy="759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950"/>
              </a:lnSpc>
            </a:pPr>
            <a:r>
              <a:rPr lang="ko-KR" altLang="en-US" sz="185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    가드닝 노하우 부족</a:t>
            </a:r>
          </a:p>
          <a:p>
            <a:pPr>
              <a:lnSpc>
                <a:spcPts val="2950"/>
              </a:lnSpc>
            </a:pPr>
            <a:r>
              <a:rPr lang="ko-KR" altLang="en-US" sz="185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    일관적이지 못한 관리</a:t>
            </a:r>
            <a:endParaRPr lang="en-US" sz="1850" dirty="0">
              <a:latin typeface="a시네마L" panose="02020600000000000000" pitchFamily="18" charset="-127"/>
              <a:ea typeface="a시네마L" panose="02020600000000000000" pitchFamily="18" charset="-127"/>
            </a:endParaRPr>
          </a:p>
        </p:txBody>
      </p:sp>
      <p:sp>
        <p:nvSpPr>
          <p:cNvPr id="9" name="Shape 5"/>
          <p:cNvSpPr/>
          <p:nvPr/>
        </p:nvSpPr>
        <p:spPr>
          <a:xfrm>
            <a:off x="6317218" y="5436513"/>
            <a:ext cx="7482364" cy="121920"/>
          </a:xfrm>
          <a:prstGeom prst="roundRect">
            <a:avLst>
              <a:gd name="adj" fmla="val 29208"/>
            </a:avLst>
          </a:prstGeom>
          <a:solidFill>
            <a:srgbClr val="38512F"/>
          </a:solidFill>
          <a:ln/>
        </p:spPr>
      </p:sp>
      <p:sp>
        <p:nvSpPr>
          <p:cNvPr id="10" name="Shape 6"/>
          <p:cNvSpPr/>
          <p:nvPr/>
        </p:nvSpPr>
        <p:spPr>
          <a:xfrm>
            <a:off x="9702344" y="5110996"/>
            <a:ext cx="712113" cy="712113"/>
          </a:xfrm>
          <a:prstGeom prst="roundRect">
            <a:avLst>
              <a:gd name="adj" fmla="val 128407"/>
            </a:avLst>
          </a:prstGeom>
          <a:solidFill>
            <a:srgbClr val="38512F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5942" y="5288994"/>
            <a:ext cx="284798" cy="35599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584990" y="6060400"/>
            <a:ext cx="2876907" cy="349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ko-KR" altLang="en-US" sz="2150">
                <a:latin typeface="a시네마B" panose="02020600000000000000" pitchFamily="18" charset="-127"/>
                <a:ea typeface="a시네마B" panose="02020600000000000000" pitchFamily="18" charset="-127"/>
              </a:rPr>
              <a:t>정보의 바다</a:t>
            </a:r>
            <a:r>
              <a:rPr lang="en-US" altLang="ko-KR" sz="2150">
                <a:latin typeface="a시네마B" panose="02020600000000000000" pitchFamily="18" charset="-127"/>
                <a:ea typeface="a시네마B" panose="02020600000000000000" pitchFamily="18" charset="-127"/>
              </a:rPr>
              <a:t>!</a:t>
            </a:r>
            <a:endParaRPr lang="en-US" sz="2150" dirty="0">
              <a:latin typeface="a시네마B" panose="02020600000000000000" pitchFamily="18" charset="-127"/>
              <a:ea typeface="a시네마B" panose="02020600000000000000" pitchFamily="18" charset="-127"/>
            </a:endParaRPr>
          </a:p>
        </p:txBody>
      </p:sp>
      <p:sp>
        <p:nvSpPr>
          <p:cNvPr id="13" name="Text 8"/>
          <p:cNvSpPr/>
          <p:nvPr/>
        </p:nvSpPr>
        <p:spPr>
          <a:xfrm>
            <a:off x="6584990" y="6551890"/>
            <a:ext cx="6946821" cy="759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950"/>
              </a:lnSpc>
            </a:pPr>
            <a:r>
              <a:rPr lang="en-US" sz="185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    </a:t>
            </a:r>
            <a:r>
              <a:rPr lang="ko-KR" altLang="en-US" sz="185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하지만 내 화분</a:t>
            </a:r>
            <a:r>
              <a:rPr lang="en-US" altLang="ko-KR" sz="185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, </a:t>
            </a:r>
            <a:r>
              <a:rPr lang="ko-KR" altLang="en-US" sz="185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내 식물에 대한 정보는 없음</a:t>
            </a:r>
            <a:endParaRPr lang="en-US" sz="1850">
              <a:solidFill>
                <a:srgbClr val="3A3630"/>
              </a:solidFill>
              <a:latin typeface="a시네마L" panose="02020600000000000000" pitchFamily="18" charset="-127"/>
              <a:ea typeface="a시네마L" panose="02020600000000000000" pitchFamily="18" charset="-127"/>
              <a:cs typeface="Source Sans Pro" pitchFamily="34" charset="-120"/>
            </a:endParaRPr>
          </a:p>
          <a:p>
            <a:pPr>
              <a:lnSpc>
                <a:spcPts val="2950"/>
              </a:lnSpc>
            </a:pPr>
            <a:r>
              <a:rPr lang="en-US" sz="185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    </a:t>
            </a:r>
            <a:r>
              <a:rPr lang="ko-KR" altLang="en-US" sz="185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화분 속 실시간 정보를 알 수 없음</a:t>
            </a:r>
            <a:endParaRPr lang="en-US" sz="1850" dirty="0">
              <a:latin typeface="a시네마L" panose="02020600000000000000" pitchFamily="18" charset="-127"/>
              <a:ea typeface="a시네마L" panose="02020600000000000000" pitchFamily="18" charset="-127"/>
            </a:endParaRPr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5486400" cy="8232100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FD5C4C5F-05E1-3625-64F2-1A2A0456233F}"/>
              </a:ext>
            </a:extLst>
          </p:cNvPr>
          <p:cNvSpPr/>
          <p:nvPr/>
        </p:nvSpPr>
        <p:spPr>
          <a:xfrm>
            <a:off x="12379569" y="7492719"/>
            <a:ext cx="2422770" cy="1312985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1C7E2B65-DF34-E9C8-1D23-F490693DC5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630195" y="2500"/>
            <a:ext cx="61165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2372495" y="2346197"/>
            <a:ext cx="4464724" cy="387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750"/>
              </a:lnSpc>
            </a:pPr>
            <a:r>
              <a:rPr lang="en-US" altLang="ko-KR" sz="240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IoT Device </a:t>
            </a:r>
            <a:r>
              <a:rPr lang="en-US" sz="240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</a:p>
        </p:txBody>
      </p:sp>
      <p:sp>
        <p:nvSpPr>
          <p:cNvPr id="5" name="Text 2"/>
          <p:cNvSpPr/>
          <p:nvPr/>
        </p:nvSpPr>
        <p:spPr>
          <a:xfrm>
            <a:off x="2254730" y="6169129"/>
            <a:ext cx="4533997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ko-KR" altLang="en-US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온도</a:t>
            </a:r>
            <a:r>
              <a:rPr lang="en-US" altLang="ko-KR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/</a:t>
            </a:r>
            <a:r>
              <a:rPr lang="ko-KR" altLang="en-US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습도</a:t>
            </a:r>
            <a:r>
              <a:rPr lang="en-US" altLang="ko-KR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/</a:t>
            </a:r>
            <a:r>
              <a:rPr lang="ko-KR" altLang="en-US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일조량</a:t>
            </a:r>
            <a:r>
              <a:rPr lang="en-US" altLang="ko-KR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/</a:t>
            </a:r>
            <a:r>
              <a:rPr lang="ko-KR" altLang="en-US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토질 측정</a:t>
            </a:r>
            <a:endParaRPr lang="en-US" dirty="0">
              <a:latin typeface="a시네마L" panose="02020600000000000000" pitchFamily="18" charset="-127"/>
              <a:ea typeface="a시네마L" panose="02020600000000000000" pitchFamily="18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2254730" y="6636635"/>
            <a:ext cx="4811089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altLang="ko-KR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COGS </a:t>
            </a:r>
            <a:r>
              <a:rPr lang="ko-KR" altLang="en-US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절감을 위한 최소화된 구성</a:t>
            </a:r>
            <a:endParaRPr lang="en-US" dirty="0">
              <a:latin typeface="a시네마L" panose="02020600000000000000" pitchFamily="18" charset="-127"/>
              <a:ea typeface="a시네마L" panose="02020600000000000000" pitchFamily="18" charset="-127"/>
            </a:endParaRPr>
          </a:p>
        </p:txBody>
      </p:sp>
      <p:sp>
        <p:nvSpPr>
          <p:cNvPr id="8" name="Text 4"/>
          <p:cNvSpPr/>
          <p:nvPr/>
        </p:nvSpPr>
        <p:spPr>
          <a:xfrm>
            <a:off x="9271938" y="2346197"/>
            <a:ext cx="1812012" cy="226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Mobile App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8417239" y="6118367"/>
            <a:ext cx="4025742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200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AI-</a:t>
            </a:r>
            <a:r>
              <a:rPr lang="ko-KR" altLang="en-US" sz="200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기반</a:t>
            </a:r>
            <a:r>
              <a:rPr lang="en-US" sz="200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 </a:t>
            </a:r>
            <a:r>
              <a:rPr lang="ko-KR" altLang="en-US" sz="200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가드닝</a:t>
            </a:r>
            <a:r>
              <a:rPr lang="en-US" sz="200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 </a:t>
            </a:r>
            <a:r>
              <a:rPr lang="ko-KR" altLang="en-US" sz="200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조언</a:t>
            </a:r>
            <a:endParaRPr lang="en-US" sz="2000" dirty="0">
              <a:latin typeface="a시네마L" panose="02020600000000000000" pitchFamily="18" charset="-127"/>
              <a:ea typeface="a시네마L" panose="02020600000000000000" pitchFamily="18" charset="-127"/>
            </a:endParaRPr>
          </a:p>
        </p:txBody>
      </p:sp>
      <p:sp>
        <p:nvSpPr>
          <p:cNvPr id="10" name="Text 6"/>
          <p:cNvSpPr/>
          <p:nvPr/>
        </p:nvSpPr>
        <p:spPr>
          <a:xfrm>
            <a:off x="8417236" y="6513405"/>
            <a:ext cx="3763921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ko-KR" altLang="en-US">
                <a:latin typeface="a시네마L" panose="02020600000000000000" pitchFamily="18" charset="-127"/>
                <a:ea typeface="a시네마L" panose="02020600000000000000" pitchFamily="18" charset="-127"/>
              </a:rPr>
              <a:t>개별 화분을 대상으로 한 알림전송</a:t>
            </a:r>
            <a:endParaRPr lang="en-US" dirty="0">
              <a:latin typeface="a시네마L" panose="02020600000000000000" pitchFamily="18" charset="-127"/>
              <a:ea typeface="a시네마L" panose="02020600000000000000" pitchFamily="18" charset="-127"/>
            </a:endParaRPr>
          </a:p>
        </p:txBody>
      </p:sp>
      <p:sp>
        <p:nvSpPr>
          <p:cNvPr id="11" name="Text 7"/>
          <p:cNvSpPr/>
          <p:nvPr/>
        </p:nvSpPr>
        <p:spPr>
          <a:xfrm>
            <a:off x="8417236" y="6867836"/>
            <a:ext cx="3673869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ko-KR" altLang="en-US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단순하고 간편한</a:t>
            </a:r>
            <a:r>
              <a:rPr lang="en-US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 </a:t>
            </a:r>
            <a:r>
              <a:rPr lang="en-US" dirty="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UX</a:t>
            </a:r>
            <a:r>
              <a:rPr lang="en-US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/UI</a:t>
            </a:r>
            <a:endParaRPr lang="en-US" dirty="0">
              <a:latin typeface="a시네마L" panose="02020600000000000000" pitchFamily="18" charset="-127"/>
              <a:ea typeface="a시네마L" panose="02020600000000000000" pitchFamily="18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80C3DE4-4A52-46D3-53F6-EB79057ADF55}"/>
              </a:ext>
            </a:extLst>
          </p:cNvPr>
          <p:cNvSpPr/>
          <p:nvPr/>
        </p:nvSpPr>
        <p:spPr>
          <a:xfrm>
            <a:off x="12379569" y="7492719"/>
            <a:ext cx="2422770" cy="1312985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FEA424F-8482-46A5-8DF5-E15ED3EAF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1652" y="2807002"/>
            <a:ext cx="3041608" cy="3041608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62F6893-2E32-2C9E-5803-72A1FE6AEF70}"/>
              </a:ext>
            </a:extLst>
          </p:cNvPr>
          <p:cNvSpPr/>
          <p:nvPr/>
        </p:nvSpPr>
        <p:spPr>
          <a:xfrm>
            <a:off x="934872" y="550888"/>
            <a:ext cx="10682164" cy="139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altLang="ko-KR" sz="540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Solution - IoT Device &amp; App</a:t>
            </a:r>
            <a:endParaRPr lang="en-US" altLang="ko-KR" sz="54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60E5C54E-6D60-CC5A-FFCA-831B46BB4C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4451" y="2733467"/>
            <a:ext cx="3041609" cy="30416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F345E0E5-9B3D-65A6-3CB2-BDA0196A0947}"/>
              </a:ext>
            </a:extLst>
          </p:cNvPr>
          <p:cNvSpPr/>
          <p:nvPr/>
        </p:nvSpPr>
        <p:spPr>
          <a:xfrm>
            <a:off x="12379569" y="7492719"/>
            <a:ext cx="2422770" cy="1312985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25AA1B94-77C2-5F17-37A8-D8A75E6F7F92}"/>
              </a:ext>
            </a:extLst>
          </p:cNvPr>
          <p:cNvSpPr/>
          <p:nvPr/>
        </p:nvSpPr>
        <p:spPr>
          <a:xfrm>
            <a:off x="7543323" y="1019214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00"/>
              </a:lnSpc>
            </a:pPr>
            <a:r>
              <a:rPr lang="ko-KR" altLang="en-US" sz="4400">
                <a:solidFill>
                  <a:srgbClr val="38512F"/>
                </a:solidFill>
                <a:latin typeface="a시네마B" panose="02020600000000000000" pitchFamily="18" charset="-127"/>
                <a:ea typeface="a시네마B" panose="02020600000000000000" pitchFamily="18" charset="-127"/>
                <a:cs typeface="Lora" pitchFamily="34" charset="-120"/>
              </a:rPr>
              <a:t>경쟁 우위</a:t>
            </a:r>
            <a:endParaRPr lang="en-US" sz="4400">
              <a:solidFill>
                <a:srgbClr val="38512F"/>
              </a:solidFill>
              <a:latin typeface="a시네마B" panose="02020600000000000000" pitchFamily="18" charset="-127"/>
              <a:ea typeface="a시네마B" panose="02020600000000000000" pitchFamily="18" charset="-127"/>
              <a:cs typeface="Lora" pitchFamily="34" charset="-120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3786367B-49C1-AB03-2AC3-7DD590C249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9013113"/>
              </p:ext>
            </p:extLst>
          </p:nvPr>
        </p:nvGraphicFramePr>
        <p:xfrm>
          <a:off x="6307015" y="2733432"/>
          <a:ext cx="7997803" cy="3964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3040">
                  <a:extLst>
                    <a:ext uri="{9D8B030D-6E8A-4147-A177-3AD203B41FA5}">
                      <a16:colId xmlns:a16="http://schemas.microsoft.com/office/drawing/2014/main" val="1071525319"/>
                    </a:ext>
                  </a:extLst>
                </a:gridCol>
                <a:gridCol w="1302327">
                  <a:extLst>
                    <a:ext uri="{9D8B030D-6E8A-4147-A177-3AD203B41FA5}">
                      <a16:colId xmlns:a16="http://schemas.microsoft.com/office/drawing/2014/main" val="3658960705"/>
                    </a:ext>
                  </a:extLst>
                </a:gridCol>
                <a:gridCol w="1392382">
                  <a:extLst>
                    <a:ext uri="{9D8B030D-6E8A-4147-A177-3AD203B41FA5}">
                      <a16:colId xmlns:a16="http://schemas.microsoft.com/office/drawing/2014/main" val="4100068856"/>
                    </a:ext>
                  </a:extLst>
                </a:gridCol>
                <a:gridCol w="1461654">
                  <a:extLst>
                    <a:ext uri="{9D8B030D-6E8A-4147-A177-3AD203B41FA5}">
                      <a16:colId xmlns:a16="http://schemas.microsoft.com/office/drawing/2014/main" val="2869945008"/>
                    </a:ext>
                  </a:extLst>
                </a:gridCol>
                <a:gridCol w="1253837">
                  <a:extLst>
                    <a:ext uri="{9D8B030D-6E8A-4147-A177-3AD203B41FA5}">
                      <a16:colId xmlns:a16="http://schemas.microsoft.com/office/drawing/2014/main" val="2199807676"/>
                    </a:ext>
                  </a:extLst>
                </a:gridCol>
                <a:gridCol w="1184563">
                  <a:extLst>
                    <a:ext uri="{9D8B030D-6E8A-4147-A177-3AD203B41FA5}">
                      <a16:colId xmlns:a16="http://schemas.microsoft.com/office/drawing/2014/main" val="2123413981"/>
                    </a:ext>
                  </a:extLst>
                </a:gridCol>
              </a:tblGrid>
              <a:tr h="628426">
                <a:tc>
                  <a:txBody>
                    <a:bodyPr/>
                    <a:lstStyle/>
                    <a:p>
                      <a:pPr algn="ctr" latinLnBrk="1"/>
                      <a:endParaRPr lang="ko-KR" altLang="en-US" b="1">
                        <a:ln>
                          <a:noFill/>
                        </a:ln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i="0" kern="1200">
                          <a:solidFill>
                            <a:schemeClr val="lt1"/>
                          </a:solidFill>
                          <a:effectLst/>
                          <a:latin typeface="a시네마B" panose="02020600000000000000" pitchFamily="18" charset="-127"/>
                          <a:ea typeface="a시네마B" panose="02020600000000000000" pitchFamily="18" charset="-127"/>
                          <a:cs typeface="+mn-cs"/>
                        </a:rPr>
                        <a:t>초보자 </a:t>
                      </a:r>
                      <a:endParaRPr lang="en-US" altLang="ko-KR" sz="1800" b="1" i="0" kern="1200">
                        <a:solidFill>
                          <a:schemeClr val="lt1"/>
                        </a:solidFill>
                        <a:effectLst/>
                        <a:latin typeface="a시네마B" panose="02020600000000000000" pitchFamily="18" charset="-127"/>
                        <a:ea typeface="a시네마B" panose="02020600000000000000" pitchFamily="18" charset="-127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1800" b="1" i="0" kern="1200">
                          <a:solidFill>
                            <a:schemeClr val="lt1"/>
                          </a:solidFill>
                          <a:effectLst/>
                          <a:latin typeface="a시네마B" panose="02020600000000000000" pitchFamily="18" charset="-127"/>
                          <a:ea typeface="a시네마B" panose="02020600000000000000" pitchFamily="18" charset="-127"/>
                          <a:cs typeface="+mn-cs"/>
                        </a:rPr>
                        <a:t>친화성</a:t>
                      </a:r>
                      <a:endParaRPr lang="ko-KR" altLang="en-US" b="1">
                        <a:ln>
                          <a:noFill/>
                        </a:ln>
                        <a:latin typeface="a시네마B" panose="02020600000000000000" pitchFamily="18" charset="-127"/>
                        <a:ea typeface="a시네마B" panose="02020600000000000000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ln>
                            <a:noFill/>
                          </a:ln>
                          <a:latin typeface="a시네마B" panose="02020600000000000000" pitchFamily="18" charset="-127"/>
                          <a:ea typeface="a시네마B" panose="02020600000000000000" pitchFamily="18" charset="-127"/>
                        </a:rPr>
                        <a:t>맞춤형 조언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i="0" kern="1200">
                          <a:solidFill>
                            <a:schemeClr val="lt1"/>
                          </a:solidFill>
                          <a:effectLst/>
                          <a:latin typeface="a시네마B" panose="02020600000000000000" pitchFamily="18" charset="-127"/>
                          <a:ea typeface="a시네마B" panose="02020600000000000000" pitchFamily="18" charset="-127"/>
                          <a:cs typeface="+mn-cs"/>
                        </a:rPr>
                        <a:t>자동 경고</a:t>
                      </a:r>
                      <a:endParaRPr lang="ko-KR" altLang="en-US" b="1">
                        <a:ln>
                          <a:noFill/>
                        </a:ln>
                        <a:latin typeface="a시네마B" panose="02020600000000000000" pitchFamily="18" charset="-127"/>
                        <a:ea typeface="a시네마B" panose="02020600000000000000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ln>
                            <a:noFill/>
                          </a:ln>
                          <a:latin typeface="a시네마B" panose="02020600000000000000" pitchFamily="18" charset="-127"/>
                          <a:ea typeface="a시네마B" panose="02020600000000000000" pitchFamily="18" charset="-127"/>
                        </a:rPr>
                        <a:t>휴대 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ln>
                            <a:noFill/>
                          </a:ln>
                          <a:latin typeface="a시네마B" panose="02020600000000000000" pitchFamily="18" charset="-127"/>
                          <a:ea typeface="a시네마B" panose="02020600000000000000" pitchFamily="18" charset="-127"/>
                        </a:rPr>
                        <a:t>기기 가격</a:t>
                      </a:r>
                      <a:endParaRPr lang="en-US" altLang="ko-KR" b="1">
                        <a:ln>
                          <a:noFill/>
                        </a:ln>
                        <a:latin typeface="a시네마B" panose="02020600000000000000" pitchFamily="18" charset="-127"/>
                        <a:ea typeface="a시네마B" panose="02020600000000000000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54380"/>
                  </a:ext>
                </a:extLst>
              </a:tr>
              <a:tr h="6284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>
                          <a:ln>
                            <a:noFill/>
                          </a:ln>
                        </a:rPr>
                        <a:t>Green Stab</a:t>
                      </a:r>
                      <a:endParaRPr lang="ko-KR" altLang="en-US" b="0">
                        <a:ln>
                          <a:noFill/>
                        </a:ln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E43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endParaRPr lang="ko-KR" altLang="en-US" b="0">
                        <a:ln>
                          <a:noFill/>
                        </a:ln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E43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endParaRPr lang="ko-KR" altLang="en-US" b="0">
                        <a:ln>
                          <a:noFill/>
                        </a:ln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E43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endParaRPr lang="ko-KR" altLang="en-US" b="0">
                        <a:ln>
                          <a:noFill/>
                        </a:ln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E43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endParaRPr lang="ko-KR" altLang="en-US" b="0">
                        <a:ln>
                          <a:noFill/>
                        </a:ln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E43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>
                          <a:ln>
                            <a:noFill/>
                          </a:ln>
                        </a:rPr>
                        <a:t>15$</a:t>
                      </a:r>
                      <a:endParaRPr lang="ko-KR" altLang="en-US" b="0">
                        <a:ln>
                          <a:noFill/>
                        </a:ln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E4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960956"/>
                  </a:ext>
                </a:extLst>
              </a:tr>
              <a:tr h="6284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Greg (App)</a:t>
                      </a:r>
                      <a:endParaRPr lang="ko-KR" altLang="en-US" b="0">
                        <a:ln>
                          <a:noFill/>
                        </a:ln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ko-KR" altLang="en-US" b="0">
                        <a:ln>
                          <a:noFill/>
                        </a:ln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endParaRPr lang="ko-KR" altLang="en-US" b="0">
                        <a:ln>
                          <a:noFill/>
                        </a:ln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ko-KR" altLang="en-US" b="0">
                        <a:ln>
                          <a:noFill/>
                        </a:ln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endParaRPr lang="ko-KR" altLang="en-US" b="0">
                        <a:ln>
                          <a:noFill/>
                        </a:ln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>
                          <a:ln>
                            <a:noFill/>
                          </a:ln>
                        </a:rPr>
                        <a:t>-</a:t>
                      </a:r>
                      <a:endParaRPr lang="ko-KR" altLang="en-US" b="0">
                        <a:ln>
                          <a:noFill/>
                        </a:ln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093904"/>
                  </a:ext>
                </a:extLst>
              </a:tr>
              <a:tr h="6284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Click &amp; Grow (Smart Pot)</a:t>
                      </a:r>
                      <a:endParaRPr lang="ko-KR" altLang="en-US" b="0">
                        <a:ln>
                          <a:noFill/>
                        </a:ln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endParaRPr lang="ko-KR" altLang="en-US" b="0">
                        <a:ln>
                          <a:noFill/>
                        </a:ln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endParaRPr lang="ko-KR" altLang="en-US" b="0">
                        <a:ln>
                          <a:noFill/>
                        </a:ln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endParaRPr lang="ko-KR" altLang="en-US" b="0">
                        <a:ln>
                          <a:noFill/>
                        </a:ln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ko-KR" altLang="en-US" b="0">
                        <a:ln>
                          <a:noFill/>
                        </a:ln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>
                          <a:ln>
                            <a:noFill/>
                          </a:ln>
                        </a:rPr>
                        <a:t>99$</a:t>
                      </a:r>
                      <a:endParaRPr lang="ko-KR" altLang="en-US" b="0">
                        <a:ln>
                          <a:noFill/>
                        </a:ln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163695"/>
                  </a:ext>
                </a:extLst>
              </a:tr>
              <a:tr h="619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Xiaomi </a:t>
                      </a:r>
                      <a:b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(Smart Pot)</a:t>
                      </a:r>
                      <a:endParaRPr lang="ko-KR" altLang="en-US" b="0">
                        <a:ln>
                          <a:noFill/>
                        </a:ln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endParaRPr lang="ko-KR" altLang="en-US" b="0">
                        <a:ln>
                          <a:noFill/>
                        </a:ln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endParaRPr lang="ko-KR" altLang="en-US" b="0">
                        <a:ln>
                          <a:noFill/>
                        </a:ln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endParaRPr lang="ko-KR" altLang="en-US" b="0">
                        <a:ln>
                          <a:noFill/>
                        </a:ln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ko-KR" altLang="en-US" b="0">
                        <a:ln>
                          <a:noFill/>
                        </a:ln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>
                          <a:ln>
                            <a:noFill/>
                          </a:ln>
                        </a:rPr>
                        <a:t>55$</a:t>
                      </a:r>
                      <a:endParaRPr lang="ko-KR" altLang="en-US" b="0">
                        <a:ln>
                          <a:noFill/>
                        </a:ln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242225"/>
                  </a:ext>
                </a:extLst>
              </a:tr>
              <a:tr h="619817">
                <a:tc>
                  <a:txBody>
                    <a:bodyPr/>
                    <a:lstStyle/>
                    <a:p>
                      <a:pPr algn="ctr" fontAlgn="t">
                        <a:lnSpc>
                          <a:spcPts val="1350"/>
                        </a:lnSpc>
                        <a:buNone/>
                      </a:pPr>
                      <a:br>
                        <a:rPr lang="en-US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Chirp</a:t>
                      </a:r>
                      <a:endParaRPr lang="en-US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ctr" fontAlgn="t">
                        <a:lnSpc>
                          <a:spcPts val="1350"/>
                        </a:lnSpc>
                        <a:buNone/>
                      </a:pPr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(Embedded Sensor)</a:t>
                      </a:r>
                      <a:endParaRPr lang="en-US">
                        <a:effectLst/>
                      </a:endParaRPr>
                    </a:p>
                  </a:txBody>
                  <a:tcPr marT="23813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ko-KR" altLang="en-US" b="0">
                        <a:ln>
                          <a:noFill/>
                        </a:ln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ko-KR" altLang="en-US" b="0">
                        <a:ln>
                          <a:noFill/>
                        </a:ln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endParaRPr lang="ko-KR" altLang="en-US" b="0">
                        <a:ln>
                          <a:noFill/>
                        </a:ln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endParaRPr lang="ko-KR" altLang="en-US" b="0">
                        <a:ln>
                          <a:noFill/>
                        </a:ln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>
                          <a:ln>
                            <a:noFill/>
                          </a:ln>
                        </a:rPr>
                        <a:t>18$</a:t>
                      </a:r>
                      <a:endParaRPr lang="ko-KR" altLang="en-US" b="0">
                        <a:ln>
                          <a:noFill/>
                        </a:ln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041879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16C22A31-4315-7462-91DF-1016D7AF5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5542" y="601102"/>
            <a:ext cx="10780752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400" dirty="0">
                <a:solidFill>
                  <a:srgbClr val="38512F"/>
                </a:solidFill>
                <a:latin typeface="a시네마B" panose="02020600000000000000" pitchFamily="18" charset="-127"/>
                <a:ea typeface="a시네마B" panose="02020600000000000000" pitchFamily="18" charset="-127"/>
                <a:cs typeface="Lora" pitchFamily="34" charset="-120"/>
              </a:rPr>
              <a:t>Why Now</a:t>
            </a:r>
            <a:r>
              <a:rPr lang="en-US" sz="5400">
                <a:solidFill>
                  <a:srgbClr val="38512F"/>
                </a:solidFill>
                <a:latin typeface="a시네마B" panose="02020600000000000000" pitchFamily="18" charset="-127"/>
                <a:ea typeface="a시네마B" panose="02020600000000000000" pitchFamily="18" charset="-127"/>
                <a:cs typeface="Lora" pitchFamily="34" charset="-120"/>
              </a:rPr>
              <a:t>? 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5400">
                <a:solidFill>
                  <a:srgbClr val="38512F"/>
                </a:solidFill>
                <a:latin typeface="a시네마B" panose="02020600000000000000" pitchFamily="18" charset="-127"/>
                <a:ea typeface="a시네마B" panose="02020600000000000000" pitchFamily="18" charset="-127"/>
                <a:cs typeface="Lora" pitchFamily="34" charset="-120"/>
              </a:rPr>
              <a:t>    - </a:t>
            </a:r>
            <a:r>
              <a:rPr lang="ko-KR" altLang="en-US" sz="5400">
                <a:solidFill>
                  <a:srgbClr val="38512F"/>
                </a:solidFill>
                <a:latin typeface="a시네마B" panose="02020600000000000000" pitchFamily="18" charset="-127"/>
                <a:ea typeface="a시네마B" panose="02020600000000000000" pitchFamily="18" charset="-127"/>
                <a:cs typeface="Lora" pitchFamily="34" charset="-120"/>
              </a:rPr>
              <a:t>시장동향 </a:t>
            </a:r>
            <a:r>
              <a:rPr lang="en-US" sz="5400">
                <a:solidFill>
                  <a:srgbClr val="38512F"/>
                </a:solidFill>
                <a:latin typeface="a시네마B" panose="02020600000000000000" pitchFamily="18" charset="-127"/>
                <a:ea typeface="a시네마B" panose="02020600000000000000" pitchFamily="18" charset="-127"/>
                <a:cs typeface="Lora" pitchFamily="34" charset="-120"/>
              </a:rPr>
              <a:t>&amp; </a:t>
            </a:r>
            <a:r>
              <a:rPr lang="ko-KR" altLang="en-US" sz="5400">
                <a:solidFill>
                  <a:srgbClr val="38512F"/>
                </a:solidFill>
                <a:latin typeface="a시네마B" panose="02020600000000000000" pitchFamily="18" charset="-127"/>
                <a:ea typeface="a시네마B" panose="02020600000000000000" pitchFamily="18" charset="-127"/>
                <a:cs typeface="Lora" pitchFamily="34" charset="-120"/>
              </a:rPr>
              <a:t>예상되는 기회</a:t>
            </a:r>
            <a:endParaRPr lang="en-US" sz="5400">
              <a:solidFill>
                <a:srgbClr val="38512F"/>
              </a:solidFill>
              <a:latin typeface="a시네마B" panose="02020600000000000000" pitchFamily="18" charset="-127"/>
              <a:ea typeface="a시네마B" panose="02020600000000000000" pitchFamily="18" charset="-127"/>
              <a:cs typeface="Lora" pitchFamily="34" charset="-12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3626525"/>
            <a:ext cx="598408" cy="5984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7724" y="452413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ko-KR" altLang="en-US" sz="2200">
                <a:solidFill>
                  <a:srgbClr val="3A3630"/>
                </a:solidFill>
                <a:latin typeface="a시네마B" panose="02020600000000000000" pitchFamily="18" charset="-127"/>
                <a:ea typeface="a시네마B" panose="02020600000000000000" pitchFamily="18" charset="-127"/>
                <a:cs typeface="Lora" pitchFamily="34" charset="-120"/>
              </a:rPr>
              <a:t>인테리어 트렌드</a:t>
            </a:r>
            <a:endParaRPr lang="en-US" sz="2200" dirty="0">
              <a:latin typeface="a시네마B" panose="02020600000000000000" pitchFamily="18" charset="-127"/>
              <a:ea typeface="a시네마B" panose="02020600000000000000" pitchFamily="18" charset="-127"/>
            </a:endParaRPr>
          </a:p>
        </p:txBody>
      </p:sp>
      <p:sp>
        <p:nvSpPr>
          <p:cNvPr id="5" name="Text 2"/>
          <p:cNvSpPr/>
          <p:nvPr/>
        </p:nvSpPr>
        <p:spPr>
          <a:xfrm>
            <a:off x="837724" y="5019675"/>
            <a:ext cx="411884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ko-KR" altLang="en-US">
                <a:latin typeface="a시네마L" panose="02020600000000000000" pitchFamily="18" charset="-127"/>
                <a:ea typeface="a시네마L" panose="02020600000000000000" pitchFamily="18" charset="-127"/>
              </a:rPr>
              <a:t>홈 인테리어 트렌드에 힘입어</a:t>
            </a:r>
            <a:endParaRPr lang="en-US" altLang="ko-KR">
              <a:latin typeface="a시네마L" panose="02020600000000000000" pitchFamily="18" charset="-127"/>
              <a:ea typeface="a시네마L" panose="02020600000000000000" pitchFamily="18" charset="-127"/>
            </a:endParaRPr>
          </a:p>
          <a:p>
            <a:pPr>
              <a:lnSpc>
                <a:spcPts val="3000"/>
              </a:lnSpc>
            </a:pPr>
            <a:r>
              <a:rPr lang="ko-KR" altLang="en-US">
                <a:latin typeface="a시네마L" panose="02020600000000000000" pitchFamily="18" charset="-127"/>
                <a:ea typeface="a시네마L" panose="02020600000000000000" pitchFamily="18" charset="-127"/>
              </a:rPr>
              <a:t>급증하는 홈 가드닝에 대한 수요</a:t>
            </a:r>
            <a:br>
              <a:rPr lang="ko-KR" altLang="en-US" sz="2000">
                <a:latin typeface="a시네마L" panose="02020600000000000000" pitchFamily="18" charset="-127"/>
                <a:ea typeface="a시네마L" panose="02020600000000000000" pitchFamily="18" charset="-127"/>
              </a:rPr>
            </a:br>
            <a:br>
              <a:rPr lang="ko-KR" altLang="en-US" sz="2000"/>
            </a:br>
            <a:r>
              <a:rPr lang="ko-KR" altLang="en-US"/>
              <a:t>글로벌 홈 가드닝 시장 성장 </a:t>
            </a:r>
            <a:br>
              <a:rPr lang="en-US" sz="1850"/>
            </a:br>
            <a:r>
              <a:rPr lang="en-US" sz="1850"/>
              <a:t>    </a:t>
            </a:r>
            <a:r>
              <a:rPr lang="en-US" sz="1200"/>
              <a:t>USD 14.90 billion - 2024</a:t>
            </a:r>
            <a:br>
              <a:rPr lang="en-US" sz="1200"/>
            </a:br>
            <a:r>
              <a:rPr lang="en-US" altLang="ko-KR" sz="1200"/>
              <a:t>      </a:t>
            </a:r>
            <a:r>
              <a:rPr lang="en-US" sz="1200"/>
              <a:t>USD 15.78 billion - 2025, </a:t>
            </a:r>
            <a:br>
              <a:rPr lang="en-US" sz="1200"/>
            </a:br>
            <a:r>
              <a:rPr lang="en-US" altLang="ko-KR" sz="1200"/>
              <a:t>      </a:t>
            </a:r>
            <a:r>
              <a:rPr lang="en-US" sz="1200"/>
              <a:t>5.92% CAGR through 2034</a:t>
            </a:r>
          </a:p>
          <a:p>
            <a:pPr>
              <a:lnSpc>
                <a:spcPts val="3000"/>
              </a:lnSpc>
            </a:pPr>
            <a:r>
              <a:rPr lang="en-US" sz="700">
                <a:hlinkClick r:id="rId4"/>
              </a:rPr>
              <a:t> https://www.custommarketinsights.com/press-releases/home-gardening-market-size/</a:t>
            </a:r>
            <a:endParaRPr lang="en-US" sz="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5776" y="3626525"/>
            <a:ext cx="598408" cy="5984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55776" y="452413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IoT &amp; AI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55776" y="5019675"/>
            <a:ext cx="411884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ko-KR" altLang="en-US" sz="185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원격 식물 관리를 위한 </a:t>
            </a:r>
            <a:endParaRPr lang="en-US" altLang="ko-KR" sz="1850">
              <a:solidFill>
                <a:srgbClr val="3A3630"/>
              </a:solidFill>
              <a:latin typeface="a시네마L" panose="02020600000000000000" pitchFamily="18" charset="-127"/>
              <a:ea typeface="a시네마L" panose="02020600000000000000" pitchFamily="18" charset="-127"/>
              <a:cs typeface="Source Sans Pro" pitchFamily="34" charset="-120"/>
            </a:endParaRPr>
          </a:p>
          <a:p>
            <a:pPr>
              <a:lnSpc>
                <a:spcPts val="3000"/>
              </a:lnSpc>
            </a:pPr>
            <a:r>
              <a:rPr lang="en-US" altLang="ko-KR" sz="185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IoT </a:t>
            </a:r>
            <a:r>
              <a:rPr lang="ko-KR" altLang="en-US" sz="185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센서와 </a:t>
            </a:r>
            <a:r>
              <a:rPr lang="en-US" altLang="ko-KR" sz="185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AI</a:t>
            </a:r>
            <a:r>
              <a:rPr lang="ko-KR" altLang="en-US" sz="185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의 광범위한 가용성</a:t>
            </a:r>
            <a:r>
              <a:rPr lang="en-US" altLang="ko-KR" sz="185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.</a:t>
            </a:r>
            <a:endParaRPr lang="en-US" sz="1850" dirty="0">
              <a:latin typeface="a시네마L" panose="02020600000000000000" pitchFamily="18" charset="-127"/>
              <a:ea typeface="a시네마L" panose="02020600000000000000" pitchFamily="18" charset="-127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73828" y="3626525"/>
            <a:ext cx="598408" cy="5984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3828" y="452413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DIY &amp; Contactless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3828" y="5019675"/>
            <a:ext cx="411884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ko-KR" altLang="en-US">
                <a:latin typeface="a시네마L" panose="02020600000000000000" pitchFamily="18" charset="-127"/>
                <a:ea typeface="a시네마L" panose="02020600000000000000" pitchFamily="18" charset="-127"/>
              </a:rPr>
              <a:t>비대면 셀프 여가 활동의 확산</a:t>
            </a:r>
            <a:endParaRPr lang="en-US" sz="1850" dirty="0">
              <a:latin typeface="a시네마L" panose="02020600000000000000" pitchFamily="18" charset="-127"/>
              <a:ea typeface="a시네마L" panose="02020600000000000000" pitchFamily="18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35993C1-D12E-5377-5BD7-A7E756ABABA7}"/>
              </a:ext>
            </a:extLst>
          </p:cNvPr>
          <p:cNvSpPr/>
          <p:nvPr/>
        </p:nvSpPr>
        <p:spPr>
          <a:xfrm>
            <a:off x="12379569" y="7492719"/>
            <a:ext cx="2422770" cy="1312985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82098-E1E5-8D01-BA0C-0CD510C04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F32772D5-AA2C-43B7-D2C7-EEC1A23FDB30}"/>
              </a:ext>
            </a:extLst>
          </p:cNvPr>
          <p:cNvSpPr/>
          <p:nvPr/>
        </p:nvSpPr>
        <p:spPr>
          <a:xfrm>
            <a:off x="12379569" y="7492719"/>
            <a:ext cx="2422770" cy="1312985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F8A3F48-7C99-B98C-9788-52CD1500A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7584" y="-1841020"/>
            <a:ext cx="4971246" cy="1312986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4F069BA-4595-1439-D77F-74428FCA55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6229251"/>
              </p:ext>
            </p:extLst>
          </p:nvPr>
        </p:nvGraphicFramePr>
        <p:xfrm>
          <a:off x="1568882" y="2072297"/>
          <a:ext cx="12396500" cy="49338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9279">
                  <a:extLst>
                    <a:ext uri="{9D8B030D-6E8A-4147-A177-3AD203B41FA5}">
                      <a16:colId xmlns:a16="http://schemas.microsoft.com/office/drawing/2014/main" val="1071525319"/>
                    </a:ext>
                  </a:extLst>
                </a:gridCol>
                <a:gridCol w="4462457">
                  <a:extLst>
                    <a:ext uri="{9D8B030D-6E8A-4147-A177-3AD203B41FA5}">
                      <a16:colId xmlns:a16="http://schemas.microsoft.com/office/drawing/2014/main" val="3658960705"/>
                    </a:ext>
                  </a:extLst>
                </a:gridCol>
                <a:gridCol w="1861020">
                  <a:extLst>
                    <a:ext uri="{9D8B030D-6E8A-4147-A177-3AD203B41FA5}">
                      <a16:colId xmlns:a16="http://schemas.microsoft.com/office/drawing/2014/main" val="4100068856"/>
                    </a:ext>
                  </a:extLst>
                </a:gridCol>
                <a:gridCol w="4733744">
                  <a:extLst>
                    <a:ext uri="{9D8B030D-6E8A-4147-A177-3AD203B41FA5}">
                      <a16:colId xmlns:a16="http://schemas.microsoft.com/office/drawing/2014/main" val="2869945008"/>
                    </a:ext>
                  </a:extLst>
                </a:gridCol>
              </a:tblGrid>
              <a:tr h="895315"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endParaRPr lang="ko-KR" altLang="en-US" b="0">
                        <a:effectLst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ko-KR" altLang="en-US" sz="1800" b="0" i="0" kern="1200">
                          <a:solidFill>
                            <a:schemeClr val="lt1"/>
                          </a:solidFill>
                          <a:effectLst/>
                          <a:latin typeface="a시네마B" panose="02020600000000000000" pitchFamily="18" charset="-127"/>
                          <a:ea typeface="a시네마B" panose="02020600000000000000" pitchFamily="18" charset="-127"/>
                          <a:cs typeface="+mn-cs"/>
                        </a:rPr>
                        <a:t>정의</a:t>
                      </a:r>
                      <a:endParaRPr lang="ko-KR" altLang="en-US" b="0">
                        <a:effectLst/>
                        <a:latin typeface="a시네마B" panose="02020600000000000000" pitchFamily="18" charset="-127"/>
                        <a:ea typeface="a시네마B" panose="02020600000000000000" pitchFamily="18" charset="-127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ko-KR" altLang="en-US" sz="1800" b="0" i="0" kern="1200">
                          <a:solidFill>
                            <a:schemeClr val="lt1"/>
                          </a:solidFill>
                          <a:effectLst/>
                          <a:latin typeface="a시네마B" panose="02020600000000000000" pitchFamily="18" charset="-127"/>
                          <a:ea typeface="a시네마B" panose="02020600000000000000" pitchFamily="18" charset="-127"/>
                          <a:cs typeface="+mn-cs"/>
                        </a:rPr>
                        <a:t>시장규모</a:t>
                      </a:r>
                      <a:r>
                        <a:rPr lang="en-US" altLang="ko-KR" sz="1800" b="0" i="0" kern="1200">
                          <a:solidFill>
                            <a:schemeClr val="lt1"/>
                          </a:solidFill>
                          <a:effectLst/>
                          <a:latin typeface="a시네마B" panose="02020600000000000000" pitchFamily="18" charset="-127"/>
                          <a:ea typeface="a시네마B" panose="02020600000000000000" pitchFamily="18" charset="-127"/>
                          <a:cs typeface="+mn-cs"/>
                        </a:rPr>
                        <a:t> (USD)</a:t>
                      </a:r>
                      <a:endParaRPr lang="en-US" b="0">
                        <a:effectLst/>
                        <a:latin typeface="a시네마B" panose="02020600000000000000" pitchFamily="18" charset="-127"/>
                        <a:ea typeface="a시네마B" panose="02020600000000000000" pitchFamily="18" charset="-127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ko-KR" altLang="en-US" sz="1800" b="0" i="0" kern="1200">
                          <a:solidFill>
                            <a:schemeClr val="lt1"/>
                          </a:solidFill>
                          <a:effectLst/>
                          <a:latin typeface="a시네마B" panose="02020600000000000000" pitchFamily="18" charset="-127"/>
                          <a:ea typeface="a시네마B" panose="02020600000000000000" pitchFamily="18" charset="-127"/>
                          <a:cs typeface="+mn-cs"/>
                        </a:rPr>
                        <a:t>분석 근거 및 전제 조건</a:t>
                      </a:r>
                      <a:endParaRPr lang="ko-KR" altLang="en-US" b="0">
                        <a:effectLst/>
                        <a:latin typeface="a시네마B" panose="02020600000000000000" pitchFamily="18" charset="-127"/>
                        <a:ea typeface="a시네마B" panose="02020600000000000000" pitchFamily="18" charset="-127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54380"/>
                  </a:ext>
                </a:extLst>
              </a:tr>
              <a:tr h="911918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>
                          <a:effectLst/>
                        </a:rPr>
                        <a:t>TAM</a:t>
                      </a:r>
                      <a:endParaRPr lang="ko-KR" altLang="en-US">
                        <a:effectLst/>
                      </a:endParaRPr>
                    </a:p>
                  </a:txBody>
                  <a:tcPr marL="38100" marR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>
                          <a:effectLst/>
                          <a:latin typeface="a시네마L" panose="02020600000000000000" pitchFamily="18" charset="-127"/>
                          <a:ea typeface="a시네마L" panose="02020600000000000000" pitchFamily="18" charset="-127"/>
                        </a:rPr>
                        <a:t>글로벌 홈 가드닝</a:t>
                      </a:r>
                    </a:p>
                  </a:txBody>
                  <a:tcPr marL="38100" marR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>
                          <a:effectLst/>
                        </a:rPr>
                        <a:t>15.78 Billion</a:t>
                      </a:r>
                    </a:p>
                  </a:txBody>
                  <a:tcPr marL="38100" marR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2025</a:t>
                      </a:r>
                      <a:r>
                        <a:rPr lang="ko-KR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글로벌 홈 가드닝 시장 규모</a:t>
                      </a:r>
                      <a:endParaRPr lang="en-US" altLang="ko-KR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0">
                        <a:buNone/>
                      </a:pPr>
                      <a:endParaRPr lang="en-US" altLang="ko-KR" sz="1200">
                        <a:effectLst/>
                      </a:endParaRPr>
                    </a:p>
                    <a:p>
                      <a:pPr fontAlgn="base" latinLnBrk="0">
                        <a:buNone/>
                      </a:pPr>
                      <a:r>
                        <a:rPr lang="en-US" altLang="ko-KR" sz="1200">
                          <a:effectLst/>
                          <a:hlinkClick r:id="rId4"/>
                        </a:rPr>
                        <a:t>https://www.custommarketinsights.com/report/home-gardening-market/</a:t>
                      </a:r>
                      <a:endParaRPr lang="ko-KR" altLang="en-US" sz="1200">
                        <a:effectLst/>
                      </a:endParaRPr>
                    </a:p>
                  </a:txBody>
                  <a:tcPr marL="38100" marR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960956"/>
                  </a:ext>
                </a:extLst>
              </a:tr>
              <a:tr h="911918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altLang="ko-KR">
                          <a:effectLst/>
                        </a:rPr>
                        <a:t>SAM</a:t>
                      </a:r>
                      <a:endParaRPr lang="ko-KR" altLang="en-US">
                        <a:effectLst/>
                      </a:endParaRPr>
                    </a:p>
                  </a:txBody>
                  <a:tcPr marL="38100" marR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>
                          <a:effectLst/>
                          <a:latin typeface="a시네마L" panose="02020600000000000000" pitchFamily="18" charset="-127"/>
                          <a:ea typeface="a시네마L" panose="02020600000000000000" pitchFamily="18" charset="-127"/>
                        </a:rPr>
                        <a:t> 글로벌 스마트 실내 가드닝 시스템 시장</a:t>
                      </a:r>
                    </a:p>
                  </a:txBody>
                  <a:tcPr marL="38100" marR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>
                          <a:effectLst/>
                        </a:rPr>
                        <a:t>2.90 Billion</a:t>
                      </a:r>
                    </a:p>
                  </a:txBody>
                  <a:tcPr marL="38100" marR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2025</a:t>
                      </a:r>
                      <a:r>
                        <a:rPr lang="ko-KR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스마트 실내 가드닝 시스템 시장 규모﻿</a:t>
                      </a:r>
                      <a:b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US" altLang="ko-KR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0">
                        <a:buNone/>
                      </a:pPr>
                      <a:r>
                        <a:rPr lang="en-US" altLang="ko-KR" sz="105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https://www.datainsightsmarket.com/reports/indoor-self-growing-garden-1372849</a:t>
                      </a:r>
                      <a:endParaRPr lang="ko-KR" altLang="en-US">
                        <a:effectLst/>
                      </a:endParaRPr>
                    </a:p>
                  </a:txBody>
                  <a:tcPr marL="38100" marR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093904"/>
                  </a:ext>
                </a:extLst>
              </a:tr>
              <a:tr h="1302740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altLang="ko-KR">
                          <a:effectLst/>
                        </a:rPr>
                        <a:t>SOM</a:t>
                      </a:r>
                      <a:endParaRPr lang="ko-KR" altLang="en-US">
                        <a:effectLst/>
                      </a:endParaRPr>
                    </a:p>
                  </a:txBody>
                  <a:tcPr marL="38100" marR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>
                          <a:effectLst/>
                          <a:latin typeface="a시네마L" panose="02020600000000000000" pitchFamily="18" charset="-127"/>
                          <a:ea typeface="a시네마L" panose="02020600000000000000" pitchFamily="18" charset="-127"/>
                        </a:rPr>
                        <a:t>아시아</a:t>
                      </a:r>
                      <a:r>
                        <a:rPr lang="en-US" altLang="ko-KR">
                          <a:effectLst/>
                          <a:latin typeface="a시네마L" panose="02020600000000000000" pitchFamily="18" charset="-127"/>
                          <a:ea typeface="a시네마L" panose="02020600000000000000" pitchFamily="18" charset="-127"/>
                        </a:rPr>
                        <a:t>·</a:t>
                      </a:r>
                      <a:r>
                        <a:rPr lang="ko-KR" altLang="en-US">
                          <a:effectLst/>
                          <a:latin typeface="a시네마L" panose="02020600000000000000" pitchFamily="18" charset="-127"/>
                          <a:ea typeface="a시네마L" panose="02020600000000000000" pitchFamily="18" charset="-127"/>
                        </a:rPr>
                        <a:t>태평양 스마트 실내 가드닝 시장</a:t>
                      </a:r>
                    </a:p>
                  </a:txBody>
                  <a:tcPr marL="38100" marR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>
                          <a:effectLst/>
                        </a:rPr>
                        <a:t>0.87 Billion</a:t>
                      </a:r>
                    </a:p>
                  </a:txBody>
                  <a:tcPr marL="38100" marR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지역 시장 </a:t>
                      </a:r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SAM</a:t>
                      </a:r>
                      <a:r>
                        <a:rPr lang="ko-KR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</a:t>
                      </a:r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30%﻿</a:t>
                      </a:r>
                      <a:br>
                        <a:rPr lang="en-US" altLang="ko-KR"/>
                      </a:br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→ 0.30 × 2.90 Billion</a:t>
                      </a:r>
                      <a:b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US" altLang="ko-KR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0">
                        <a:buNone/>
                      </a:pPr>
                      <a:r>
                        <a:rPr lang="en-US" altLang="ko-KR" sz="105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https://www.zionmarketresearch.com/report/gardening-market</a:t>
                      </a:r>
                      <a:endParaRPr lang="en-US" altLang="ko-KR">
                        <a:effectLst/>
                      </a:endParaRPr>
                    </a:p>
                  </a:txBody>
                  <a:tcPr marL="38100" marR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163695"/>
                  </a:ext>
                </a:extLst>
              </a:tr>
              <a:tr h="911918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altLang="ko-KR">
                          <a:effectLst/>
                        </a:rPr>
                        <a:t>LAM</a:t>
                      </a:r>
                      <a:endParaRPr lang="ko-KR" altLang="en-US">
                        <a:effectLst/>
                      </a:endParaRPr>
                    </a:p>
                  </a:txBody>
                  <a:tcPr marL="38100" marR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 sz="1800" b="0" i="0" kern="1200">
                          <a:solidFill>
                            <a:schemeClr val="dk1"/>
                          </a:solidFill>
                          <a:effectLst/>
                          <a:latin typeface="a시네마L" panose="02020600000000000000" pitchFamily="18" charset="-127"/>
                          <a:ea typeface="a시네마L" panose="02020600000000000000" pitchFamily="18" charset="-127"/>
                          <a:cs typeface="+mn-cs"/>
                        </a:rPr>
                        <a:t>한국 초기 사용자 타깃 시장﻿</a:t>
                      </a:r>
                      <a:endParaRPr lang="ko-KR" altLang="en-US">
                        <a:effectLst/>
                        <a:latin typeface="a시네마L" panose="02020600000000000000" pitchFamily="18" charset="-127"/>
                        <a:ea typeface="a시네마L" panose="02020600000000000000" pitchFamily="18" charset="-127"/>
                      </a:endParaRPr>
                    </a:p>
                  </a:txBody>
                  <a:tcPr marL="38100" marR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>
                          <a:effectLst/>
                        </a:rPr>
                        <a:t>0.087 Billion</a:t>
                      </a:r>
                    </a:p>
                  </a:txBody>
                  <a:tcPr marL="38100" marR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SOM</a:t>
                      </a:r>
                      <a:r>
                        <a:rPr lang="ko-KR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</a:t>
                      </a:r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10%</a:t>
                      </a:r>
                      <a:r>
                        <a:rPr lang="ko-KR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 초기 시장 침투율</a:t>
                      </a:r>
                      <a:br>
                        <a:rPr lang="en-US" altLang="ko-KR"/>
                      </a:br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→ 0.10 × 0.87 Billion</a:t>
                      </a:r>
                    </a:p>
                    <a:p>
                      <a:pPr fontAlgn="base" latinLnBrk="0">
                        <a:buNone/>
                      </a:pPr>
                      <a:endParaRPr lang="en-US" sz="800">
                        <a:effectLst/>
                        <a:hlinkClick r:id="rId6"/>
                      </a:endParaRPr>
                    </a:p>
                    <a:p>
                      <a:pPr fontAlgn="base" latinLnBrk="0">
                        <a:buNone/>
                      </a:pPr>
                      <a:r>
                        <a:rPr lang="en-US" sz="800">
                          <a:effectLst/>
                          <a:hlinkClick r:id="rId6"/>
                        </a:rPr>
                        <a:t>https://www.linkedin.com/pulse/south-korea-smart-garden-system-market-2026-size-trends-key-yijnc/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242225"/>
                  </a:ext>
                </a:extLst>
              </a:tr>
            </a:tbl>
          </a:graphicData>
        </a:graphic>
      </p:graphicFrame>
      <p:sp>
        <p:nvSpPr>
          <p:cNvPr id="6" name="Text 0">
            <a:extLst>
              <a:ext uri="{FF2B5EF4-FFF2-40B4-BE49-F238E27FC236}">
                <a16:creationId xmlns:a16="http://schemas.microsoft.com/office/drawing/2014/main" id="{FE7E6425-1532-ECBD-C836-B74A063B9AD6}"/>
              </a:ext>
            </a:extLst>
          </p:cNvPr>
          <p:cNvSpPr/>
          <p:nvPr/>
        </p:nvSpPr>
        <p:spPr>
          <a:xfrm>
            <a:off x="731756" y="671711"/>
            <a:ext cx="7999050" cy="829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ko-KR" altLang="en-US" sz="4400">
                <a:solidFill>
                  <a:srgbClr val="38512F"/>
                </a:solidFill>
                <a:latin typeface="a시네마B" panose="02020600000000000000" pitchFamily="18" charset="-127"/>
                <a:ea typeface="a시네마B" panose="02020600000000000000" pitchFamily="18" charset="-127"/>
                <a:cs typeface="Lora" pitchFamily="34" charset="-120"/>
              </a:rPr>
              <a:t>시장분석 오버뷰</a:t>
            </a:r>
            <a:endParaRPr lang="en-US" sz="4400">
              <a:solidFill>
                <a:srgbClr val="38512F"/>
              </a:solidFill>
              <a:latin typeface="a시네마B" panose="02020600000000000000" pitchFamily="18" charset="-127"/>
              <a:ea typeface="a시네마B" panose="02020600000000000000" pitchFamily="18" charset="-127"/>
              <a:cs typeface="Lora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28129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67FBF32F-EE83-5786-0F64-65E63BFC9003}"/>
              </a:ext>
            </a:extLst>
          </p:cNvPr>
          <p:cNvSpPr/>
          <p:nvPr/>
        </p:nvSpPr>
        <p:spPr>
          <a:xfrm>
            <a:off x="12379569" y="7492719"/>
            <a:ext cx="2422770" cy="1312985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 0"/>
          <p:cNvSpPr/>
          <p:nvPr/>
        </p:nvSpPr>
        <p:spPr>
          <a:xfrm>
            <a:off x="837724" y="1158359"/>
            <a:ext cx="4382953" cy="623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50"/>
              </a:lnSpc>
            </a:pPr>
            <a:r>
              <a:rPr lang="ko-KR" altLang="en-US" sz="4400">
                <a:solidFill>
                  <a:srgbClr val="38512F"/>
                </a:solidFill>
                <a:latin typeface="a시네마B" panose="02020600000000000000" pitchFamily="18" charset="-127"/>
                <a:ea typeface="a시네마B" panose="02020600000000000000" pitchFamily="18" charset="-127"/>
                <a:cs typeface="Lora" pitchFamily="34" charset="-120"/>
              </a:rPr>
              <a:t>비즈니스 모델</a:t>
            </a:r>
            <a:endParaRPr lang="en-US" altLang="ko-KR" sz="4400" dirty="0">
              <a:latin typeface="a시네마B" panose="02020600000000000000" pitchFamily="18" charset="-127"/>
              <a:ea typeface="a시네마B" panose="02020600000000000000" pitchFamily="18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1362451" y="206567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ko-KR" altLang="en-US" sz="2400">
                <a:solidFill>
                  <a:srgbClr val="3A3630"/>
                </a:solidFill>
                <a:latin typeface="a시네마B" panose="02020600000000000000" pitchFamily="18" charset="-127"/>
                <a:ea typeface="a시네마B" panose="02020600000000000000" pitchFamily="18" charset="-127"/>
                <a:cs typeface="Source Sans Pro" pitchFamily="34" charset="-120"/>
              </a:rPr>
              <a:t>구독 모델별 서비스</a:t>
            </a:r>
            <a:endParaRPr lang="en-US" sz="2200" dirty="0">
              <a:latin typeface="a시네마B" panose="02020600000000000000" pitchFamily="18" charset="-127"/>
              <a:ea typeface="a시네마B" panose="02020600000000000000" pitchFamily="18" charset="-127"/>
            </a:endParaRPr>
          </a:p>
        </p:txBody>
      </p:sp>
      <p:sp>
        <p:nvSpPr>
          <p:cNvPr id="9" name="Text 6"/>
          <p:cNvSpPr/>
          <p:nvPr/>
        </p:nvSpPr>
        <p:spPr>
          <a:xfrm>
            <a:off x="1764233" y="2478026"/>
            <a:ext cx="6187211" cy="5014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endParaRPr lang="en-US" altLang="ko-KR" sz="1850">
              <a:solidFill>
                <a:srgbClr val="3A3630"/>
              </a:solidFill>
              <a:latin typeface="a시네마L" panose="02020600000000000000" pitchFamily="18" charset="-127"/>
              <a:ea typeface="a시네마L" panose="02020600000000000000" pitchFamily="18" charset="-127"/>
              <a:cs typeface="Source Sans Pro" pitchFamily="34" charset="-120"/>
            </a:endParaRPr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altLang="ko-KR" sz="185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Free Version</a:t>
            </a:r>
          </a:p>
          <a:p>
            <a:pPr>
              <a:lnSpc>
                <a:spcPts val="3000"/>
              </a:lnSpc>
              <a:buSzPct val="100000"/>
            </a:pPr>
            <a:r>
              <a:rPr lang="en-US" altLang="ko-KR" sz="185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           - IOT </a:t>
            </a:r>
            <a:r>
              <a:rPr lang="ko-KR" altLang="en-US" sz="185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기기</a:t>
            </a:r>
            <a:r>
              <a:rPr lang="en-US" altLang="ko-KR" sz="185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 ($15)</a:t>
            </a:r>
          </a:p>
          <a:p>
            <a:pPr>
              <a:lnSpc>
                <a:spcPts val="3000"/>
              </a:lnSpc>
              <a:buSzPct val="100000"/>
            </a:pPr>
            <a:r>
              <a:rPr lang="en-US" altLang="ko-KR" sz="185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           - </a:t>
            </a:r>
            <a:r>
              <a:rPr lang="ko-KR" altLang="en-US" sz="185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실시간 데이터 제공</a:t>
            </a:r>
            <a:endParaRPr lang="en-US" altLang="ko-KR" sz="1850">
              <a:solidFill>
                <a:srgbClr val="3A3630"/>
              </a:solidFill>
              <a:latin typeface="a시네마L" panose="02020600000000000000" pitchFamily="18" charset="-127"/>
              <a:ea typeface="a시네마L" panose="02020600000000000000" pitchFamily="18" charset="-127"/>
              <a:cs typeface="Source Sans Pro" pitchFamily="34" charset="-120"/>
            </a:endParaRPr>
          </a:p>
          <a:p>
            <a:pPr>
              <a:lnSpc>
                <a:spcPts val="3000"/>
              </a:lnSpc>
              <a:buSzPct val="100000"/>
            </a:pPr>
            <a:endParaRPr lang="en-US" sz="1850">
              <a:solidFill>
                <a:srgbClr val="3A3630"/>
              </a:solidFill>
              <a:latin typeface="a시네마L" panose="02020600000000000000" pitchFamily="18" charset="-127"/>
              <a:ea typeface="a시네마L" panose="02020600000000000000" pitchFamily="18" charset="-127"/>
              <a:cs typeface="Source Sans Pro" pitchFamily="34" charset="-120"/>
            </a:endParaRPr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Payment </a:t>
            </a:r>
            <a:r>
              <a:rPr lang="en-US" altLang="ko-KR" sz="185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Version</a:t>
            </a:r>
            <a:endParaRPr lang="en-US" sz="1850">
              <a:solidFill>
                <a:srgbClr val="3A3630"/>
              </a:solidFill>
              <a:latin typeface="a시네마L" panose="02020600000000000000" pitchFamily="18" charset="-127"/>
              <a:ea typeface="a시네마L" panose="02020600000000000000" pitchFamily="18" charset="-127"/>
              <a:cs typeface="Source Sans Pro" pitchFamily="34" charset="-120"/>
            </a:endParaRPr>
          </a:p>
          <a:p>
            <a:pPr>
              <a:lnSpc>
                <a:spcPts val="3000"/>
              </a:lnSpc>
              <a:buSzPct val="100000"/>
            </a:pPr>
            <a:r>
              <a:rPr lang="en-US" altLang="ko-KR" sz="185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           -  Free Version + </a:t>
            </a:r>
            <a:r>
              <a:rPr lang="ko-KR" altLang="en-US" sz="185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조언</a:t>
            </a:r>
            <a:r>
              <a:rPr lang="en-US" altLang="ko-KR" sz="185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 + </a:t>
            </a:r>
            <a:r>
              <a:rPr lang="ko-KR" altLang="en-US" sz="185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경고</a:t>
            </a:r>
            <a:endParaRPr lang="en-US" altLang="ko-KR" sz="1850">
              <a:solidFill>
                <a:srgbClr val="3A3630"/>
              </a:solidFill>
              <a:latin typeface="a시네마L" panose="02020600000000000000" pitchFamily="18" charset="-127"/>
              <a:ea typeface="a시네마L" panose="02020600000000000000" pitchFamily="18" charset="-127"/>
              <a:cs typeface="Source Sans Pro" pitchFamily="34" charset="-120"/>
            </a:endParaRPr>
          </a:p>
          <a:p>
            <a:pPr>
              <a:lnSpc>
                <a:spcPts val="3000"/>
              </a:lnSpc>
              <a:buSzPct val="100000"/>
            </a:pPr>
            <a:r>
              <a:rPr lang="en-US" altLang="ko-KR" sz="185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           - </a:t>
            </a:r>
            <a:r>
              <a:rPr lang="en-US" sz="185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$</a:t>
            </a:r>
            <a:r>
              <a:rPr lang="en-US" sz="1850" dirty="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3</a:t>
            </a:r>
            <a:r>
              <a:rPr lang="en-US" sz="185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/month</a:t>
            </a:r>
            <a:br>
              <a:rPr lang="en-US" sz="185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</a:br>
            <a:r>
              <a:rPr lang="en-US" altLang="ko-KR" sz="185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           -</a:t>
            </a:r>
            <a:r>
              <a:rPr lang="en-US" sz="185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 6</a:t>
            </a:r>
            <a:r>
              <a:rPr lang="ko-KR" altLang="en-US" sz="185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개월 구독 </a:t>
            </a:r>
            <a:r>
              <a:rPr lang="en-US" altLang="ko-KR" sz="185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(+ </a:t>
            </a:r>
            <a:r>
              <a:rPr lang="ko-KR" altLang="en-US" sz="185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디바이스 무료제공</a:t>
            </a:r>
            <a:r>
              <a:rPr lang="en-US" altLang="ko-KR" sz="185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)</a:t>
            </a:r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endParaRPr lang="en-US" altLang="ko-KR" sz="1850">
              <a:solidFill>
                <a:srgbClr val="3A3630"/>
              </a:solidFill>
              <a:latin typeface="a시네마L" panose="02020600000000000000" pitchFamily="18" charset="-127"/>
              <a:ea typeface="a시네마L" panose="02020600000000000000" pitchFamily="18" charset="-127"/>
              <a:cs typeface="Source Sans Pro" pitchFamily="34" charset="-120"/>
            </a:endParaRPr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altLang="ko-KR" sz="185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Premiem Version</a:t>
            </a:r>
          </a:p>
          <a:p>
            <a:pPr>
              <a:lnSpc>
                <a:spcPts val="3000"/>
              </a:lnSpc>
              <a:buSzPct val="100000"/>
            </a:pPr>
            <a:r>
              <a:rPr lang="en-US" altLang="ko-KR" sz="185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           -  Payment Version + </a:t>
            </a:r>
            <a:r>
              <a:rPr lang="ko-KR" altLang="en-US" sz="185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능동적인 질문기회</a:t>
            </a:r>
            <a:endParaRPr lang="en-US" altLang="ko-KR" sz="1850">
              <a:solidFill>
                <a:srgbClr val="3A3630"/>
              </a:solidFill>
              <a:latin typeface="a시네마L" panose="02020600000000000000" pitchFamily="18" charset="-127"/>
              <a:ea typeface="a시네마L" panose="02020600000000000000" pitchFamily="18" charset="-127"/>
              <a:cs typeface="Source Sans Pro" pitchFamily="34" charset="-120"/>
            </a:endParaRPr>
          </a:p>
          <a:p>
            <a:pPr>
              <a:lnSpc>
                <a:spcPts val="3000"/>
              </a:lnSpc>
              <a:buSzPct val="100000"/>
            </a:pPr>
            <a:r>
              <a:rPr lang="en-US" altLang="ko-KR" sz="185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           -  5$/month</a:t>
            </a:r>
            <a:endParaRPr lang="en-US" altLang="ko-KR" sz="1850">
              <a:latin typeface="a시네마L" panose="02020600000000000000" pitchFamily="18" charset="-127"/>
              <a:ea typeface="a시네마L" panose="02020600000000000000" pitchFamily="18" charset="-127"/>
            </a:endParaRPr>
          </a:p>
          <a:p>
            <a:pPr>
              <a:lnSpc>
                <a:spcPts val="3000"/>
              </a:lnSpc>
              <a:buSzPct val="100000"/>
            </a:pPr>
            <a:endParaRPr lang="en-US" altLang="ko-KR" sz="1850">
              <a:latin typeface="a시네마L" panose="02020600000000000000" pitchFamily="18" charset="-127"/>
              <a:ea typeface="a시네마L" panose="02020600000000000000" pitchFamily="18" charset="-127"/>
            </a:endParaRPr>
          </a:p>
          <a:p>
            <a:pPr>
              <a:lnSpc>
                <a:spcPts val="3000"/>
              </a:lnSpc>
              <a:buSzPct val="100000"/>
            </a:pPr>
            <a:endParaRPr lang="en-US" sz="1850" dirty="0">
              <a:latin typeface="a시네마L" panose="02020600000000000000" pitchFamily="18" charset="-127"/>
              <a:ea typeface="a시네마L" panose="02020600000000000000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A429E93-A6FC-9C1B-1B22-6D8CA8181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0927" y="0"/>
            <a:ext cx="5479473" cy="823932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810C5FE9-3121-5150-BDAB-2F492CBF6256}"/>
              </a:ext>
            </a:extLst>
          </p:cNvPr>
          <p:cNvSpPr/>
          <p:nvPr/>
        </p:nvSpPr>
        <p:spPr>
          <a:xfrm>
            <a:off x="12301416" y="7080738"/>
            <a:ext cx="2422770" cy="1312985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 0"/>
          <p:cNvSpPr/>
          <p:nvPr/>
        </p:nvSpPr>
        <p:spPr>
          <a:xfrm>
            <a:off x="570524" y="1340858"/>
            <a:ext cx="966561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ko-KR" altLang="en-US" sz="7200">
                <a:solidFill>
                  <a:srgbClr val="38512F"/>
                </a:solidFill>
                <a:latin typeface="a시네마B" panose="02020600000000000000" pitchFamily="18" charset="-127"/>
                <a:ea typeface="a시네마B" panose="02020600000000000000" pitchFamily="18" charset="-127"/>
                <a:cs typeface="Lora" pitchFamily="34" charset="-120"/>
              </a:rPr>
              <a:t>재무전망</a:t>
            </a:r>
            <a:endParaRPr lang="en-US" sz="7200">
              <a:solidFill>
                <a:srgbClr val="38512F"/>
              </a:solidFill>
              <a:latin typeface="a시네마B" panose="02020600000000000000" pitchFamily="18" charset="-127"/>
              <a:ea typeface="a시네마B" panose="02020600000000000000" pitchFamily="18" charset="-127"/>
              <a:cs typeface="Lora" pitchFamily="34" charset="-120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F22558BD-129D-39C8-2C3D-0BE606B53C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9777209"/>
              </p:ext>
            </p:extLst>
          </p:nvPr>
        </p:nvGraphicFramePr>
        <p:xfrm>
          <a:off x="6662061" y="5718150"/>
          <a:ext cx="6850740" cy="2214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7015">
                  <a:extLst>
                    <a:ext uri="{9D8B030D-6E8A-4147-A177-3AD203B41FA5}">
                      <a16:colId xmlns:a16="http://schemas.microsoft.com/office/drawing/2014/main" val="1057702237"/>
                    </a:ext>
                  </a:extLst>
                </a:gridCol>
                <a:gridCol w="1000370">
                  <a:extLst>
                    <a:ext uri="{9D8B030D-6E8A-4147-A177-3AD203B41FA5}">
                      <a16:colId xmlns:a16="http://schemas.microsoft.com/office/drawing/2014/main" val="3163275508"/>
                    </a:ext>
                  </a:extLst>
                </a:gridCol>
                <a:gridCol w="1109784">
                  <a:extLst>
                    <a:ext uri="{9D8B030D-6E8A-4147-A177-3AD203B41FA5}">
                      <a16:colId xmlns:a16="http://schemas.microsoft.com/office/drawing/2014/main" val="1412357523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3578114088"/>
                    </a:ext>
                  </a:extLst>
                </a:gridCol>
                <a:gridCol w="1281723">
                  <a:extLst>
                    <a:ext uri="{9D8B030D-6E8A-4147-A177-3AD203B41FA5}">
                      <a16:colId xmlns:a16="http://schemas.microsoft.com/office/drawing/2014/main" val="149240764"/>
                    </a:ext>
                  </a:extLst>
                </a:gridCol>
                <a:gridCol w="1344248">
                  <a:extLst>
                    <a:ext uri="{9D8B030D-6E8A-4147-A177-3AD203B41FA5}">
                      <a16:colId xmlns:a16="http://schemas.microsoft.com/office/drawing/2014/main" val="10247550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Year 1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Year 2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Year 3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Year 4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Year 5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32803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Users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/>
                        <a:t>1,000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E43C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/>
                        <a:t>5,000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E43C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/>
                        <a:t>15,000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E43C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/>
                        <a:t>35,000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E43C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85,000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E4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019308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Revenue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/>
                        <a:t>58,800 $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/>
                        <a:t>294,000 $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/>
                        <a:t>882,000 $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/>
                        <a:t>2,058,000 $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/>
                        <a:t>4,998,000 $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300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COGS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/>
                        <a:t>15,600 $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/>
                        <a:t>78,000 $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/>
                        <a:t>234,000 $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/>
                        <a:t>546,000 $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/>
                        <a:t>1,326,000 $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260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SG&amp;A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/>
                        <a:t>11,760 $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/>
                        <a:t>56,800 $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/>
                        <a:t>176,400 $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/>
                        <a:t>411,600 $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/>
                        <a:t>999,600 $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950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EBITA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/>
                        <a:t>31,440 $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/>
                        <a:t>157,200 $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/>
                        <a:t>471,600 $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/>
                        <a:t>1,100,400 $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/>
                        <a:t>2,672,400 $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840916"/>
                  </a:ext>
                </a:extLst>
              </a:tr>
            </a:tbl>
          </a:graphicData>
        </a:graphic>
      </p:graphicFrame>
      <p:pic>
        <p:nvPicPr>
          <p:cNvPr id="30" name="그림 29">
            <a:extLst>
              <a:ext uri="{FF2B5EF4-FFF2-40B4-BE49-F238E27FC236}">
                <a16:creationId xmlns:a16="http://schemas.microsoft.com/office/drawing/2014/main" id="{DB77B042-49C9-AB66-F4BA-F617F15CAF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839" y="460693"/>
            <a:ext cx="6910962" cy="4942083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236821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ko-KR" altLang="en-US" sz="4400">
                <a:solidFill>
                  <a:srgbClr val="38512F"/>
                </a:solidFill>
                <a:latin typeface="a시네마B" panose="02020600000000000000" pitchFamily="18" charset="-127"/>
                <a:ea typeface="a시네마B" panose="02020600000000000000" pitchFamily="18" charset="-127"/>
                <a:cs typeface="Lora" pitchFamily="34" charset="-120"/>
              </a:rPr>
              <a:t>우리의 비전</a:t>
            </a:r>
            <a:r>
              <a:rPr lang="en-US" sz="4400">
                <a:solidFill>
                  <a:srgbClr val="38512F"/>
                </a:solidFill>
                <a:latin typeface="a시네마B" panose="02020600000000000000" pitchFamily="18" charset="-127"/>
                <a:ea typeface="a시네마B" panose="02020600000000000000" pitchFamily="18" charset="-127"/>
                <a:cs typeface="Lora" pitchFamily="34" charset="-120"/>
              </a:rPr>
              <a:t> </a:t>
            </a:r>
          </a:p>
          <a:p>
            <a:pPr marL="0" indent="0" algn="l">
              <a:lnSpc>
                <a:spcPts val="5500"/>
              </a:lnSpc>
              <a:buNone/>
            </a:pPr>
            <a:r>
              <a:rPr lang="en-US" sz="4400">
                <a:solidFill>
                  <a:srgbClr val="38512F"/>
                </a:solidFill>
                <a:latin typeface="a시네마B" panose="02020600000000000000" pitchFamily="18" charset="-127"/>
                <a:ea typeface="a시네마B" panose="02020600000000000000" pitchFamily="18" charset="-127"/>
                <a:cs typeface="Lora" pitchFamily="34" charset="-120"/>
              </a:rPr>
              <a:t>  - Empowering Green Start</a:t>
            </a:r>
            <a:endParaRPr lang="en-US" sz="4400" dirty="0">
              <a:latin typeface="a시네마B" panose="02020600000000000000" pitchFamily="18" charset="-127"/>
              <a:ea typeface="a시네마B" panose="02020600000000000000" pitchFamily="18" charset="-127"/>
            </a:endParaRPr>
          </a:p>
        </p:txBody>
      </p:sp>
      <p:sp>
        <p:nvSpPr>
          <p:cNvPr id="4" name="Text 1"/>
          <p:cNvSpPr/>
          <p:nvPr/>
        </p:nvSpPr>
        <p:spPr>
          <a:xfrm>
            <a:off x="6324124" y="3003828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ko-KR" altLang="en-US">
                <a:latin typeface="a시네마L" panose="02020600000000000000" pitchFamily="18" charset="-127"/>
                <a:ea typeface="a시네마L" panose="02020600000000000000" pitchFamily="18" charset="-127"/>
              </a:rPr>
              <a:t>누구나 집에서 식물을 키울 수 있게</a:t>
            </a:r>
            <a:r>
              <a:rPr lang="en-US" altLang="ko-KR">
                <a:latin typeface="a시네마L" panose="02020600000000000000" pitchFamily="18" charset="-127"/>
                <a:ea typeface="a시네마L" panose="02020600000000000000" pitchFamily="18" charset="-127"/>
              </a:rPr>
              <a:t>,</a:t>
            </a:r>
          </a:p>
          <a:p>
            <a:pPr>
              <a:lnSpc>
                <a:spcPts val="3000"/>
              </a:lnSpc>
            </a:pPr>
            <a:r>
              <a:rPr lang="ko-KR" altLang="en-US">
                <a:latin typeface="a시네마L" panose="02020600000000000000" pitchFamily="18" charset="-127"/>
                <a:ea typeface="a시네마L" panose="02020600000000000000" pitchFamily="18" charset="-127"/>
              </a:rPr>
              <a:t>누구나 일상 속 힐링과 새로운 라이프스타일을 가질수 있도록</a:t>
            </a:r>
            <a:r>
              <a:rPr lang="en-US" altLang="ko-KR">
                <a:latin typeface="a시네마L" panose="02020600000000000000" pitchFamily="18" charset="-127"/>
                <a:ea typeface="a시네마L" panose="02020600000000000000" pitchFamily="18" charset="-127"/>
              </a:rPr>
              <a:t>!</a:t>
            </a:r>
            <a:endParaRPr lang="en-US" sz="1850" dirty="0">
              <a:latin typeface="a시네마L" panose="02020600000000000000" pitchFamily="18" charset="-127"/>
              <a:ea typeface="a시네마L" panose="02020600000000000000" pitchFamily="18" charset="-127"/>
            </a:endParaRPr>
          </a:p>
        </p:txBody>
      </p:sp>
      <p:sp>
        <p:nvSpPr>
          <p:cNvPr id="5" name="Text 2"/>
          <p:cNvSpPr/>
          <p:nvPr/>
        </p:nvSpPr>
        <p:spPr>
          <a:xfrm>
            <a:off x="6324124" y="4128849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ko-KR" altLang="en-US" sz="2650">
                <a:solidFill>
                  <a:srgbClr val="38512F"/>
                </a:solidFill>
                <a:latin typeface="a시네마B" panose="02020600000000000000" pitchFamily="18" charset="-127"/>
                <a:ea typeface="a시네마B" panose="02020600000000000000" pitchFamily="18" charset="-127"/>
                <a:cs typeface="Lora" pitchFamily="34" charset="-120"/>
              </a:rPr>
              <a:t>당부</a:t>
            </a:r>
            <a:r>
              <a:rPr lang="en-US" altLang="ko-KR" sz="2650">
                <a:solidFill>
                  <a:srgbClr val="38512F"/>
                </a:solidFill>
                <a:latin typeface="a시네마B" panose="02020600000000000000" pitchFamily="18" charset="-127"/>
                <a:ea typeface="a시네마B" panose="02020600000000000000" pitchFamily="18" charset="-127"/>
                <a:cs typeface="Lora" pitchFamily="34" charset="-120"/>
              </a:rPr>
              <a:t>, </a:t>
            </a:r>
            <a:r>
              <a:rPr lang="ko-KR" altLang="en-US" sz="2650">
                <a:solidFill>
                  <a:srgbClr val="38512F"/>
                </a:solidFill>
                <a:latin typeface="a시네마B" panose="02020600000000000000" pitchFamily="18" charset="-127"/>
                <a:ea typeface="a시네마B" panose="02020600000000000000" pitchFamily="18" charset="-127"/>
                <a:cs typeface="Lora" pitchFamily="34" charset="-120"/>
              </a:rPr>
              <a:t>또는 요구</a:t>
            </a:r>
            <a:r>
              <a:rPr lang="en-US" sz="2650">
                <a:solidFill>
                  <a:srgbClr val="38512F"/>
                </a:solidFill>
                <a:latin typeface="a시네마B" panose="02020600000000000000" pitchFamily="18" charset="-127"/>
                <a:ea typeface="a시네마B" panose="02020600000000000000" pitchFamily="18" charset="-127"/>
                <a:cs typeface="Lora" pitchFamily="34" charset="-120"/>
              </a:rPr>
              <a:t>:</a:t>
            </a:r>
            <a:endParaRPr lang="en-US" sz="2650" dirty="0">
              <a:latin typeface="a시네마B" panose="02020600000000000000" pitchFamily="18" charset="-127"/>
              <a:ea typeface="a시네마B" panose="02020600000000000000" pitchFamily="18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6324124" y="4910138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ko-KR" altLang="en-US" sz="1850" b="1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투자</a:t>
            </a:r>
            <a:r>
              <a:rPr lang="en-US" sz="1850" b="1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:</a:t>
            </a:r>
            <a:r>
              <a:rPr lang="en-US" sz="185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 IoT, AI </a:t>
            </a:r>
            <a:r>
              <a:rPr lang="ko-KR" altLang="en-US" sz="185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개발</a:t>
            </a:r>
            <a:r>
              <a:rPr lang="en-US" sz="185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, </a:t>
            </a:r>
            <a:r>
              <a:rPr lang="ko-KR" altLang="en-US" sz="185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마케팅을 위한 </a:t>
            </a:r>
            <a:r>
              <a:rPr lang="en-US" altLang="ko-KR" sz="185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$200K </a:t>
            </a:r>
            <a:r>
              <a:rPr lang="ko-KR" altLang="en-US" sz="185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규모의 초기투자</a:t>
            </a:r>
            <a:endParaRPr lang="en-US" sz="1850" dirty="0">
              <a:latin typeface="a시네마L" panose="02020600000000000000" pitchFamily="18" charset="-127"/>
              <a:ea typeface="a시네마L" panose="02020600000000000000" pitchFamily="18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6324124" y="5484614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ko-KR" altLang="en-US" sz="1850" b="1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파트너쉽</a:t>
            </a:r>
            <a:r>
              <a:rPr lang="en-US" sz="1850" b="1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:</a:t>
            </a:r>
            <a:r>
              <a:rPr lang="en-US" sz="185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 </a:t>
            </a:r>
            <a:r>
              <a:rPr lang="ko-KR" altLang="en-US" sz="185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가드닝 커뮤니티 및 관련 브랜드와의 협업 </a:t>
            </a:r>
            <a:r>
              <a:rPr lang="en-US" altLang="ko-KR" sz="185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&gt;</a:t>
            </a:r>
            <a:endParaRPr lang="en-US" sz="1850" dirty="0">
              <a:latin typeface="a시네마L" panose="02020600000000000000" pitchFamily="18" charset="-127"/>
              <a:ea typeface="a시네마L" panose="02020600000000000000" pitchFamily="18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6324124" y="6050400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ko-KR" altLang="en-US" sz="1850" b="1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채용</a:t>
            </a:r>
            <a:r>
              <a:rPr lang="en-US" sz="1850" b="1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:</a:t>
            </a:r>
            <a:r>
              <a:rPr lang="en-US" sz="185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 </a:t>
            </a:r>
            <a:r>
              <a:rPr lang="ko-KR" altLang="en-US" sz="185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개발자 </a:t>
            </a:r>
            <a:r>
              <a:rPr lang="en-US" sz="185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App/DB/AI (</a:t>
            </a:r>
            <a:r>
              <a:rPr lang="ko-KR" altLang="en-US" sz="185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임베디드는 괜찮습니다</a:t>
            </a:r>
            <a:r>
              <a:rPr lang="en-US" sz="185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. </a:t>
            </a:r>
            <a:r>
              <a:rPr lang="ko-KR" altLang="en-US" sz="185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저에요</a:t>
            </a:r>
            <a:r>
              <a:rPr lang="en-US" sz="1850">
                <a:solidFill>
                  <a:srgbClr val="3A3630"/>
                </a:solidFill>
                <a:latin typeface="a시네마L" panose="02020600000000000000" pitchFamily="18" charset="-127"/>
                <a:ea typeface="a시네마L" panose="02020600000000000000" pitchFamily="18" charset="-127"/>
                <a:cs typeface="Source Sans Pro" pitchFamily="34" charset="-120"/>
              </a:rPr>
              <a:t>.)</a:t>
            </a:r>
            <a:endParaRPr lang="en-US" sz="1850" dirty="0">
              <a:latin typeface="a시네마L" panose="02020600000000000000" pitchFamily="18" charset="-127"/>
              <a:ea typeface="a시네마L" panose="02020600000000000000" pitchFamily="18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456EBFE-DAA5-6009-6EEC-6D1F0FC0E403}"/>
              </a:ext>
            </a:extLst>
          </p:cNvPr>
          <p:cNvSpPr/>
          <p:nvPr/>
        </p:nvSpPr>
        <p:spPr>
          <a:xfrm>
            <a:off x="12379569" y="7492719"/>
            <a:ext cx="2422770" cy="1312985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610AB-A480-F944-D55F-4973B2B2C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16609CAA-84AC-08C9-7A87-C354AEA93823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F57946BB-1376-8E60-AE25-8E8C19C1F716}"/>
              </a:ext>
            </a:extLst>
          </p:cNvPr>
          <p:cNvSpPr/>
          <p:nvPr/>
        </p:nvSpPr>
        <p:spPr>
          <a:xfrm>
            <a:off x="2448509" y="5136303"/>
            <a:ext cx="5484750" cy="2831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altLang="ko-KR" sz="2800">
                <a:solidFill>
                  <a:schemeClr val="bg1"/>
                </a:solidFill>
              </a:rPr>
              <a:t>Name: Baek</a:t>
            </a:r>
            <a:r>
              <a:rPr lang="ko-KR" altLang="en-US" sz="2800">
                <a:solidFill>
                  <a:schemeClr val="bg1"/>
                </a:solidFill>
              </a:rPr>
              <a:t> </a:t>
            </a:r>
            <a:r>
              <a:rPr lang="en-US" altLang="ko-KR" sz="2800">
                <a:solidFill>
                  <a:schemeClr val="bg1"/>
                </a:solidFill>
              </a:rPr>
              <a:t>SangHo</a:t>
            </a:r>
          </a:p>
          <a:p>
            <a:pPr marL="0" indent="0" algn="l">
              <a:lnSpc>
                <a:spcPts val="5500"/>
              </a:lnSpc>
              <a:buNone/>
            </a:pPr>
            <a:r>
              <a:rPr lang="en-US" altLang="ko-KR" sz="2800">
                <a:solidFill>
                  <a:schemeClr val="bg1"/>
                </a:solidFill>
              </a:rPr>
              <a:t>Mail: qqqqmmss11@gmail.com</a:t>
            </a:r>
          </a:p>
          <a:p>
            <a:pPr marL="0" indent="0" algn="l">
              <a:lnSpc>
                <a:spcPts val="5500"/>
              </a:lnSpc>
              <a:buNone/>
            </a:pPr>
            <a:r>
              <a:rPr lang="en-US" altLang="ko-KR" sz="2800">
                <a:solidFill>
                  <a:schemeClr val="bg1"/>
                </a:solidFill>
              </a:rPr>
              <a:t>Github: BigCodult</a:t>
            </a:r>
          </a:p>
          <a:p>
            <a:pPr>
              <a:lnSpc>
                <a:spcPts val="5500"/>
              </a:lnSpc>
            </a:pPr>
            <a:r>
              <a:rPr lang="en-US" altLang="ko-KR" sz="2800">
                <a:solidFill>
                  <a:schemeClr val="bg1"/>
                </a:solidFill>
              </a:rPr>
              <a:t>LinkedIn:</a:t>
            </a:r>
            <a:r>
              <a:rPr lang="ko-KR" altLang="en-US" sz="2800">
                <a:solidFill>
                  <a:schemeClr val="bg1"/>
                </a:solidFill>
              </a:rPr>
              <a:t> </a:t>
            </a:r>
            <a:r>
              <a:rPr lang="en-US" altLang="ko-KR" sz="2800">
                <a:solidFill>
                  <a:schemeClr val="bg1"/>
                </a:solidFill>
              </a:rPr>
              <a:t>sangho baek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8FC68442-CDDC-2307-7C2B-415529F934C7}"/>
              </a:ext>
            </a:extLst>
          </p:cNvPr>
          <p:cNvSpPr/>
          <p:nvPr/>
        </p:nvSpPr>
        <p:spPr>
          <a:xfrm>
            <a:off x="2082716" y="2228151"/>
            <a:ext cx="10907163" cy="2332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5500"/>
              </a:lnSpc>
              <a:buNone/>
            </a:pPr>
            <a:r>
              <a:rPr lang="en-US" sz="13800">
                <a:solidFill>
                  <a:schemeClr val="bg1"/>
                </a:solidFill>
                <a:latin typeface="Vladimir Script" panose="03050402040407070305" pitchFamily="66" charset="0"/>
              </a:rPr>
              <a:t>~Thank You~</a:t>
            </a:r>
            <a:endParaRPr lang="en-US" sz="138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2A85B6E-A9DE-CEA6-2098-64800EF2D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3709" y="4933963"/>
            <a:ext cx="3036241" cy="3036241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B7F26CB1-13AA-4F1E-263F-82004ED75BEA}"/>
              </a:ext>
            </a:extLst>
          </p:cNvPr>
          <p:cNvSpPr/>
          <p:nvPr/>
        </p:nvSpPr>
        <p:spPr>
          <a:xfrm>
            <a:off x="10284512" y="4341471"/>
            <a:ext cx="2705367" cy="666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altLang="ko-KR" sz="4400">
                <a:solidFill>
                  <a:schemeClr val="bg1"/>
                </a:solidFill>
              </a:rPr>
              <a:t>LinkedIn</a:t>
            </a:r>
          </a:p>
          <a:p>
            <a:pPr marL="0" indent="0" algn="l">
              <a:lnSpc>
                <a:spcPts val="5500"/>
              </a:lnSpc>
              <a:buNone/>
            </a:pP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814ACD34-8133-89C4-8464-49BC0A8AFF49}"/>
              </a:ext>
            </a:extLst>
          </p:cNvPr>
          <p:cNvSpPr/>
          <p:nvPr/>
        </p:nvSpPr>
        <p:spPr>
          <a:xfrm>
            <a:off x="0" y="4388858"/>
            <a:ext cx="7890164" cy="1198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650"/>
              </a:lnSpc>
              <a:buNone/>
            </a:pPr>
            <a:r>
              <a:rPr lang="en-US" sz="11500">
                <a:solidFill>
                  <a:srgbClr val="538C0E"/>
                </a:solidFill>
                <a:latin typeface="YouMurderer BB" panose="02000508000000020004" pitchFamily="2" charset="0"/>
                <a:ea typeface="Lora" pitchFamily="34" charset="-122"/>
                <a:cs typeface="Lora" pitchFamily="34" charset="-120"/>
              </a:rPr>
              <a:t>Green Stab!</a:t>
            </a:r>
          </a:p>
        </p:txBody>
      </p:sp>
    </p:spTree>
    <p:extLst>
      <p:ext uri="{BB962C8B-B14F-4D97-AF65-F5344CB8AC3E}">
        <p14:creationId xmlns:p14="http://schemas.microsoft.com/office/powerpoint/2010/main" val="138888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911</TotalTime>
  <Words>631</Words>
  <Application>Microsoft Office PowerPoint</Application>
  <PresentationFormat>사용자 지정</PresentationFormat>
  <Paragraphs>168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7" baseType="lpstr">
      <vt:lpstr>a시네마L</vt:lpstr>
      <vt:lpstr>a시네마B</vt:lpstr>
      <vt:lpstr>Lora</vt:lpstr>
      <vt:lpstr>YouMurderer BB</vt:lpstr>
      <vt:lpstr>Vladimir Script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CorinE Poor</dc:creator>
  <cp:lastModifiedBy>CorinE Poor</cp:lastModifiedBy>
  <cp:revision>30</cp:revision>
  <dcterms:created xsi:type="dcterms:W3CDTF">2025-07-17T01:09:42Z</dcterms:created>
  <dcterms:modified xsi:type="dcterms:W3CDTF">2025-11-29T07:59:10Z</dcterms:modified>
</cp:coreProperties>
</file>
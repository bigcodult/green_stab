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9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107_0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59" r:id="rId6"/>
    <p:sldId id="266" r:id="rId7"/>
    <p:sldId id="261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a시네마B" panose="02020600000000000000" pitchFamily="18" charset="-127"/>
      <p:regular r:id="rId13"/>
    </p:embeddedFont>
    <p:embeddedFont>
      <p:font typeface="a시네마L" panose="02020600000000000000" pitchFamily="18" charset="-127"/>
      <p:regular r:id="rId14"/>
    </p:embeddedFont>
    <p:embeddedFont>
      <p:font typeface="Lora" pitchFamily="2" charset="0"/>
      <p:regular r:id="rId15"/>
      <p:bold r:id="rId16"/>
      <p:italic r:id="rId17"/>
      <p:boldItalic r:id="rId18"/>
    </p:embeddedFont>
    <p:embeddedFont>
      <p:font typeface="Vladimir Script" panose="03050402040407070305" pitchFamily="66" charset="0"/>
      <p:regular r:id="rId19"/>
    </p:embeddedFont>
    <p:embeddedFont>
      <p:font typeface="YouMurderer BB" panose="02000508000000020004" pitchFamily="2" charset="0"/>
      <p:regular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0E326A-8761-4D25-D5FE-87B9CAD94450}" name="CorinE Poor" initials="CP" userId="a45d6f74dc14bc7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E43C"/>
    <a:srgbClr val="8EB767"/>
    <a:srgbClr val="10893E"/>
    <a:srgbClr val="2B8D0D"/>
    <a:srgbClr val="FEF5E7"/>
    <a:srgbClr val="538C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420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comments/modernComment_107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C003DFD-795D-4509-8242-31A14B20AA73}" authorId="{C40E326A-8761-4D25-D5FE-87B9CAD94450}" created="2025-07-17T07:48:32.151">
    <pc:sldMkLst xmlns:pc="http://schemas.microsoft.com/office/powerpoint/2013/main/command">
      <pc:docMk/>
      <pc:sldMk cId="0" sldId="263"/>
    </pc:sldMkLst>
    <p188:txBody>
      <a:bodyPr/>
      <a:lstStyle/>
      <a:p>
        <a:r>
          <a:rPr lang="ko-KR" altLang="en-US"/>
          <a:t>용어	의미 및 설명
Revenue	매출 또는 수익을 의미하며, 기업이 제품이나 서비스를 판매하여 얻은 전체 금액을 뜻합니다. 경영성과 지표에서 가장 위에 위치합니다.
COGS	**Cost of Goods Sold(매출원가)**의 약자입니다. 판매된 제품을 생산하는 데 직접적으로 들어간 원가(재료비, 직접노무비 등)를 말합니다.
SG&amp;A	**Selling, General and Administrative Expenses(판매 및 일반관리비)**의 약자입니다. 제품 판매와 직접 관련된 비용(광고, 급여, 사무실 유지비 등)의 총합을 의미합니다. 일반적으로 "SGSA" 대신 "SG&amp;A"가 더 널리 쓰입니다.
EBITA	**Earnings Before Interest, Taxes and Amortization(이자, 세금, 감가상각 전 이익)**의 약자입니다. 기업의 영업활동으로 벌어들인 실제 이익을 나타내며, 금융비용과 세금, 감가상각비 차감 전 이익입니다. 기업의 실질적인 영업성과를 비교할 때 활용됩니다.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6471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45DD4-134C-5FE3-9EA4-64E823CB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E98D97-C104-D410-D2FA-39B895A1B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E4BBF-45F3-F3DF-2DBC-73E7DB636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CC37A-1FCB-1D09-7321-7919DD2C38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858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>
                <a:effectLst/>
              </a:rPr>
              <a:t>Revenue: </a:t>
            </a:r>
            <a:r>
              <a:rPr lang="ko-KR" altLang="en-US" b="0">
                <a:effectLst/>
              </a:rPr>
              <a:t>매출</a:t>
            </a:r>
            <a:br>
              <a:rPr lang="en-US" altLang="ko-KR" b="0">
                <a:effectLst/>
              </a:rPr>
            </a:br>
            <a:r>
              <a:rPr lang="en-US" altLang="ko-KR">
                <a:effectLst/>
              </a:rPr>
              <a:t>COGS: Cost of Goods Sold(</a:t>
            </a:r>
            <a:r>
              <a:rPr lang="ko-KR" altLang="en-US">
                <a:effectLst/>
              </a:rPr>
              <a:t>매출원가</a:t>
            </a:r>
            <a:r>
              <a:rPr lang="en-US" altLang="ko-KR">
                <a:effectLst/>
              </a:rPr>
              <a:t>)</a:t>
            </a:r>
            <a:br>
              <a:rPr lang="en-US" altLang="ko-KR">
                <a:effectLst/>
              </a:rPr>
            </a:br>
            <a:r>
              <a:rPr lang="en-US" altLang="ko-KR">
                <a:effectLst/>
              </a:rPr>
              <a:t>SG&amp;A: Selling, General and Administrative Expenses(</a:t>
            </a:r>
            <a:r>
              <a:rPr lang="ko-KR" altLang="en-US">
                <a:effectLst/>
              </a:rPr>
              <a:t>판매 및 일반관리비</a:t>
            </a:r>
            <a:r>
              <a:rPr lang="en-US" altLang="ko-KR">
                <a:effectLst/>
              </a:rPr>
              <a:t>)</a:t>
            </a:r>
            <a:br>
              <a:rPr lang="en-US" altLang="ko-KR">
                <a:effectLst/>
              </a:rPr>
            </a:br>
            <a:r>
              <a:rPr lang="en-US" altLang="ko-KR">
                <a:effectLst/>
              </a:rPr>
              <a:t>EBITA: Earnings Before Interest, Taxes and Amortization(</a:t>
            </a:r>
            <a:r>
              <a:rPr lang="ko-KR" altLang="en-US">
                <a:effectLst/>
              </a:rPr>
              <a:t>이자</a:t>
            </a:r>
            <a:r>
              <a:rPr lang="en-US" altLang="ko-KR">
                <a:effectLst/>
              </a:rPr>
              <a:t>, </a:t>
            </a:r>
            <a:r>
              <a:rPr lang="ko-KR" altLang="en-US">
                <a:effectLst/>
              </a:rPr>
              <a:t>세금</a:t>
            </a:r>
            <a:r>
              <a:rPr lang="en-US" altLang="ko-KR">
                <a:effectLst/>
              </a:rPr>
              <a:t>, </a:t>
            </a:r>
            <a:r>
              <a:rPr lang="ko-KR" altLang="en-US">
                <a:effectLst/>
              </a:rPr>
              <a:t>감가상각 전 이익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BC0D1-91EC-D605-2ABC-27CB494EE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A1B95-10A6-F455-054B-BABF3E759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08839F-A8B9-4774-9CD1-C059DE8E7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C803B-716C-4C11-3241-4708A2A16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07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7_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0219" y="3777318"/>
            <a:ext cx="7890164" cy="1198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650"/>
              </a:lnSpc>
              <a:buNone/>
            </a:pPr>
            <a:r>
              <a:rPr lang="en-US" sz="16600">
                <a:solidFill>
                  <a:srgbClr val="538C0E"/>
                </a:solidFill>
                <a:latin typeface="YouMurderer BB" panose="02000508000000020004" pitchFamily="2" charset="0"/>
                <a:ea typeface="Lora" pitchFamily="34" charset="-122"/>
                <a:cs typeface="Lora" pitchFamily="34" charset="-120"/>
              </a:rPr>
              <a:t>Green Stab!</a:t>
            </a:r>
          </a:p>
          <a:p>
            <a:endParaRPr lang="en-US" altLang="ko-KR" sz="1600" i="1"/>
          </a:p>
          <a:p>
            <a:endParaRPr lang="en-US" altLang="ko-KR" sz="1600" i="1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BF151465-5E9C-D2C3-840A-87B5B65CA44B}"/>
              </a:ext>
            </a:extLst>
          </p:cNvPr>
          <p:cNvSpPr/>
          <p:nvPr/>
        </p:nvSpPr>
        <p:spPr>
          <a:xfrm>
            <a:off x="2182091" y="5079645"/>
            <a:ext cx="5728855" cy="1198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ko-KR" altLang="en-US" sz="2800">
                <a:solidFill>
                  <a:schemeClr val="accent6">
                    <a:lumMod val="50000"/>
                  </a:schemeClr>
                </a:solidFill>
                <a:latin typeface="a시네마L" panose="02020600000000000000" pitchFamily="18" charset="-127"/>
                <a:ea typeface="a시네마L" panose="02020600000000000000" pitchFamily="18" charset="-127"/>
              </a:rPr>
              <a:t>식물 킬러에서 식물 집사로</a:t>
            </a:r>
            <a:r>
              <a:rPr lang="en-US" altLang="ko-KR" sz="2800">
                <a:solidFill>
                  <a:schemeClr val="accent6">
                    <a:lumMod val="50000"/>
                  </a:schemeClr>
                </a:solidFill>
                <a:latin typeface="a시네마L" panose="02020600000000000000" pitchFamily="18" charset="-127"/>
                <a:ea typeface="a시네마L" panose="02020600000000000000" pitchFamily="18" charset="-127"/>
              </a:rPr>
              <a:t>,</a:t>
            </a:r>
          </a:p>
          <a:p>
            <a:r>
              <a:rPr lang="en-US" altLang="ko-KR" sz="2800">
                <a:solidFill>
                  <a:schemeClr val="accent6">
                    <a:lumMod val="50000"/>
                  </a:schemeClr>
                </a:solidFill>
                <a:latin typeface="a시네마L" panose="02020600000000000000" pitchFamily="18" charset="-127"/>
                <a:ea typeface="a시네마L" panose="02020600000000000000" pitchFamily="18" charset="-127"/>
              </a:rPr>
              <a:t>IoT &amp; AI</a:t>
            </a:r>
            <a:r>
              <a:rPr lang="ko-KR" altLang="en-US" sz="2800">
                <a:solidFill>
                  <a:schemeClr val="accent6">
                    <a:lumMod val="50000"/>
                  </a:schemeClr>
                </a:solidFill>
                <a:latin typeface="a시네마L" panose="02020600000000000000" pitchFamily="18" charset="-127"/>
                <a:ea typeface="a시네마L" panose="02020600000000000000" pitchFamily="18" charset="-127"/>
              </a:rPr>
              <a:t>가 알려주는 가장 쉬운 가드닝</a:t>
            </a:r>
            <a:endParaRPr lang="en-US" altLang="ko-KR" sz="2800">
              <a:solidFill>
                <a:schemeClr val="accent6">
                  <a:lumMod val="50000"/>
                </a:schemeClr>
              </a:solidFill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317159" y="395277"/>
            <a:ext cx="7482364" cy="139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66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문제정의</a:t>
            </a:r>
            <a:endParaRPr lang="en-US" altLang="ko-KR" sz="6000">
              <a:solidFill>
                <a:srgbClr val="38512F"/>
              </a:solidFill>
              <a:latin typeface="a시네마B" panose="02020600000000000000" pitchFamily="18" charset="-127"/>
              <a:ea typeface="a시네마B" panose="02020600000000000000" pitchFamily="18" charset="-127"/>
              <a:cs typeface="Lora" pitchFamily="34" charset="-120"/>
            </a:endParaRPr>
          </a:p>
          <a:p>
            <a:pPr marL="0" indent="0" algn="l">
              <a:buNone/>
            </a:pPr>
            <a:r>
              <a:rPr lang="en-US" sz="66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 </a:t>
            </a:r>
            <a:r>
              <a:rPr lang="en-US" sz="6600">
                <a:solidFill>
                  <a:srgbClr val="38512F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Lora" pitchFamily="34" charset="-120"/>
              </a:rPr>
              <a:t>-</a:t>
            </a:r>
            <a:r>
              <a:rPr lang="en-US" sz="2400">
                <a:solidFill>
                  <a:srgbClr val="38512F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Lora" pitchFamily="34" charset="-120"/>
              </a:rPr>
              <a:t> </a:t>
            </a:r>
            <a:r>
              <a:rPr lang="ko-KR" altLang="en-US" sz="6600">
                <a:solidFill>
                  <a:srgbClr val="38512F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Lora" pitchFamily="34" charset="-120"/>
              </a:rPr>
              <a:t>식물관리 실패</a:t>
            </a:r>
            <a:endParaRPr lang="en-US" sz="6600">
              <a:solidFill>
                <a:srgbClr val="38512F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Lora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317218" y="2730937"/>
            <a:ext cx="7482364" cy="121920"/>
          </a:xfrm>
          <a:prstGeom prst="roundRect">
            <a:avLst>
              <a:gd name="adj" fmla="val 29208"/>
            </a:avLst>
          </a:prstGeom>
          <a:solidFill>
            <a:srgbClr val="38512F"/>
          </a:solidFill>
          <a:ln/>
        </p:spPr>
      </p:sp>
      <p:sp>
        <p:nvSpPr>
          <p:cNvPr id="5" name="Shape 2"/>
          <p:cNvSpPr/>
          <p:nvPr/>
        </p:nvSpPr>
        <p:spPr>
          <a:xfrm>
            <a:off x="9702344" y="2405420"/>
            <a:ext cx="712113" cy="712113"/>
          </a:xfrm>
          <a:prstGeom prst="roundRect">
            <a:avLst>
              <a:gd name="adj" fmla="val 128407"/>
            </a:avLst>
          </a:prstGeom>
          <a:solidFill>
            <a:srgbClr val="38512F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942" y="2583418"/>
            <a:ext cx="284798" cy="3559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4989" y="3176710"/>
            <a:ext cx="7027101" cy="1847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ko-KR" altLang="en-US" sz="4000">
                <a:solidFill>
                  <a:srgbClr val="3A3630"/>
                </a:solidFill>
                <a:latin typeface="a시네마B" panose="02020600000000000000" pitchFamily="18" charset="-127"/>
                <a:ea typeface="a시네마B" panose="02020600000000000000" pitchFamily="18" charset="-127"/>
              </a:rPr>
              <a:t>지식 부족</a:t>
            </a:r>
            <a:endParaRPr lang="en-US" sz="2400">
              <a:solidFill>
                <a:srgbClr val="3A3630"/>
              </a:solidFill>
              <a:latin typeface="a시네마B" panose="02020600000000000000" pitchFamily="18" charset="-127"/>
              <a:ea typeface="a시네마B" panose="02020600000000000000" pitchFamily="18" charset="-127"/>
            </a:endParaRPr>
          </a:p>
          <a:p>
            <a:r>
              <a:rPr lang="ko-KR" altLang="en-US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가드닝 노하우 부족</a:t>
            </a:r>
          </a:p>
          <a:p>
            <a:pPr>
              <a:lnSpc>
                <a:spcPts val="2950"/>
              </a:lnSpc>
            </a:pPr>
            <a:r>
              <a:rPr lang="ko-KR" altLang="en-US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일관적이지 못한 관리</a:t>
            </a:r>
            <a:endParaRPr lang="en-US" altLang="ko-KR" sz="320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9" name="Shape 5"/>
          <p:cNvSpPr/>
          <p:nvPr/>
        </p:nvSpPr>
        <p:spPr>
          <a:xfrm>
            <a:off x="6317218" y="5436513"/>
            <a:ext cx="7482364" cy="121920"/>
          </a:xfrm>
          <a:prstGeom prst="roundRect">
            <a:avLst>
              <a:gd name="adj" fmla="val 29208"/>
            </a:avLst>
          </a:prstGeom>
          <a:solidFill>
            <a:srgbClr val="38512F"/>
          </a:solidFill>
          <a:ln/>
        </p:spPr>
      </p:sp>
      <p:sp>
        <p:nvSpPr>
          <p:cNvPr id="10" name="Shape 6"/>
          <p:cNvSpPr/>
          <p:nvPr/>
        </p:nvSpPr>
        <p:spPr>
          <a:xfrm>
            <a:off x="9702344" y="5110996"/>
            <a:ext cx="712113" cy="712113"/>
          </a:xfrm>
          <a:prstGeom prst="roundRect">
            <a:avLst>
              <a:gd name="adj" fmla="val 128407"/>
            </a:avLst>
          </a:prstGeom>
          <a:solidFill>
            <a:srgbClr val="38512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5942" y="5288994"/>
            <a:ext cx="284798" cy="355997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486400" cy="823210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FD5C4C5F-05E1-3625-64F2-1A2A0456233F}"/>
              </a:ext>
            </a:extLst>
          </p:cNvPr>
          <p:cNvSpPr/>
          <p:nvPr/>
        </p:nvSpPr>
        <p:spPr>
          <a:xfrm>
            <a:off x="12207630" y="6829104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C7E2B65-DF34-E9C8-1D23-F490693DC5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30195" y="2500"/>
            <a:ext cx="6116595" cy="8229600"/>
          </a:xfrm>
          <a:prstGeom prst="rect">
            <a:avLst/>
          </a:prstGeom>
        </p:spPr>
      </p:pic>
      <p:sp>
        <p:nvSpPr>
          <p:cNvPr id="15" name="Text 3">
            <a:extLst>
              <a:ext uri="{FF2B5EF4-FFF2-40B4-BE49-F238E27FC236}">
                <a16:creationId xmlns:a16="http://schemas.microsoft.com/office/drawing/2014/main" id="{8EE34AD4-C956-3118-DDAE-433618F89DE1}"/>
              </a:ext>
            </a:extLst>
          </p:cNvPr>
          <p:cNvSpPr/>
          <p:nvPr/>
        </p:nvSpPr>
        <p:spPr>
          <a:xfrm>
            <a:off x="6584989" y="6034800"/>
            <a:ext cx="7027101" cy="1847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ko-KR" altLang="en-US" sz="4000">
                <a:latin typeface="a시네마B" panose="02020600000000000000" pitchFamily="18" charset="-127"/>
                <a:ea typeface="a시네마B" panose="02020600000000000000" pitchFamily="18" charset="-127"/>
              </a:rPr>
              <a:t>정보의 바다</a:t>
            </a:r>
            <a:endParaRPr lang="en-US" sz="2400">
              <a:solidFill>
                <a:srgbClr val="3A3630"/>
              </a:solidFill>
              <a:latin typeface="a시네마B" panose="02020600000000000000" pitchFamily="18" charset="-127"/>
              <a:ea typeface="a시네마B" panose="02020600000000000000" pitchFamily="18" charset="-127"/>
            </a:endParaRPr>
          </a:p>
          <a:p>
            <a:r>
              <a:rPr lang="en-US" altLang="ko-KR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</a:t>
            </a:r>
            <a:r>
              <a:rPr lang="ko-KR" altLang="en-US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넘쳐나는 가드닝 팁들</a:t>
            </a:r>
            <a:r>
              <a:rPr lang="en-US" altLang="ko-KR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</a:t>
            </a:r>
          </a:p>
          <a:p>
            <a:r>
              <a:rPr lang="en-US" altLang="ko-KR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</a:t>
            </a:r>
            <a:r>
              <a:rPr lang="ko-KR" altLang="en-US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하지만 </a:t>
            </a:r>
            <a:r>
              <a:rPr lang="ko-KR" altLang="en-US" sz="32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내 화분</a:t>
            </a:r>
            <a:r>
              <a:rPr lang="ko-KR" altLang="en-US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속에 대해서는</a:t>
            </a:r>
            <a:r>
              <a:rPr lang="en-US" altLang="ko-KR" sz="32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?</a:t>
            </a:r>
            <a:endParaRPr lang="en-US" altLang="ko-KR" sz="32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0C3DE4-4A52-46D3-53F6-EB79057ADF55}"/>
              </a:ext>
            </a:extLst>
          </p:cNvPr>
          <p:cNvSpPr/>
          <p:nvPr/>
        </p:nvSpPr>
        <p:spPr>
          <a:xfrm>
            <a:off x="12095551" y="6836226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 1"/>
          <p:cNvSpPr/>
          <p:nvPr/>
        </p:nvSpPr>
        <p:spPr>
          <a:xfrm>
            <a:off x="2296296" y="2462887"/>
            <a:ext cx="4464724" cy="301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750"/>
              </a:lnSpc>
            </a:pPr>
            <a:r>
              <a:rPr lang="en-US" altLang="ko-KR" sz="66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IoT Device </a:t>
            </a:r>
            <a:r>
              <a:rPr lang="en-US" sz="66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 </a:t>
            </a:r>
          </a:p>
        </p:txBody>
      </p:sp>
      <p:sp>
        <p:nvSpPr>
          <p:cNvPr id="5" name="Text 2"/>
          <p:cNvSpPr/>
          <p:nvPr/>
        </p:nvSpPr>
        <p:spPr>
          <a:xfrm>
            <a:off x="2039985" y="6266110"/>
            <a:ext cx="4533997" cy="1312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온도</a:t>
            </a:r>
            <a:r>
              <a:rPr lang="en-US" altLang="ko-KR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/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습도</a:t>
            </a:r>
            <a:r>
              <a:rPr lang="en-US" altLang="ko-KR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/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일조량</a:t>
            </a:r>
            <a:r>
              <a:rPr lang="en-US" altLang="ko-KR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/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토질 측정</a:t>
            </a:r>
            <a:endParaRPr lang="en-US" altLang="ko-KR" sz="24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 marL="342900" indent="-342900">
              <a:lnSpc>
                <a:spcPct val="150000"/>
              </a:lnSpc>
              <a:buSzPct val="100000"/>
              <a:buFontTx/>
              <a:buChar char="•"/>
            </a:pPr>
            <a:r>
              <a:rPr lang="en-US" altLang="ko-KR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COGS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절감을 위한 최소화된 구성</a:t>
            </a:r>
            <a:endParaRPr lang="en-US" altLang="ko-KR" sz="2400">
              <a:latin typeface="a시네마L" panose="02020600000000000000" pitchFamily="18" charset="-127"/>
              <a:ea typeface="a시네마L" panose="02020600000000000000" pitchFamily="18" charset="-127"/>
            </a:endParaRP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endParaRPr lang="en-US" sz="24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8" name="Text 4"/>
          <p:cNvSpPr/>
          <p:nvPr/>
        </p:nvSpPr>
        <p:spPr>
          <a:xfrm>
            <a:off x="8088840" y="2391447"/>
            <a:ext cx="4321463" cy="301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6000" dirty="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Mobile App</a:t>
            </a:r>
            <a:endParaRPr lang="en-US" sz="6000" dirty="0">
              <a:latin typeface="a시네마B" panose="02020600000000000000" pitchFamily="18" charset="-127"/>
              <a:ea typeface="a시네마B" panose="02020600000000000000" pitchFamily="18" charset="-127"/>
            </a:endParaRPr>
          </a:p>
        </p:txBody>
      </p:sp>
      <p:sp>
        <p:nvSpPr>
          <p:cNvPr id="9" name="Text 5"/>
          <p:cNvSpPr/>
          <p:nvPr/>
        </p:nvSpPr>
        <p:spPr>
          <a:xfrm>
            <a:off x="8151187" y="6241273"/>
            <a:ext cx="4585252" cy="1189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AI-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기반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가드닝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조언</a:t>
            </a:r>
            <a:endParaRPr lang="en-US" altLang="ko-KR" sz="24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 marL="342900" indent="-342900">
              <a:lnSpc>
                <a:spcPct val="150000"/>
              </a:lnSpc>
              <a:buSzPct val="100000"/>
              <a:buFontTx/>
              <a:buChar char="•"/>
            </a:pPr>
            <a:r>
              <a:rPr lang="ko-KR" altLang="en-US" sz="2400">
                <a:latin typeface="a시네마L" panose="02020600000000000000" pitchFamily="18" charset="-127"/>
                <a:ea typeface="a시네마L" panose="02020600000000000000" pitchFamily="18" charset="-127"/>
              </a:rPr>
              <a:t>개별 화분을 대상으로 한 알림전송</a:t>
            </a:r>
            <a:endParaRPr lang="en-US" altLang="ko-KR" sz="240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0FEA424F-8482-46A5-8DF5-E15ED3EAF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907" y="2903984"/>
            <a:ext cx="3041608" cy="3041608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62F6893-2E32-2C9E-5803-72A1FE6AEF70}"/>
              </a:ext>
            </a:extLst>
          </p:cNvPr>
          <p:cNvSpPr/>
          <p:nvPr/>
        </p:nvSpPr>
        <p:spPr>
          <a:xfrm>
            <a:off x="934872" y="550888"/>
            <a:ext cx="10682164" cy="139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altLang="ko-KR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Solution - IoT / App</a:t>
            </a:r>
            <a:endParaRPr lang="en-US" altLang="ko-KR" sz="5400" dirty="0">
              <a:latin typeface="a시네마B" panose="02020600000000000000" pitchFamily="18" charset="-127"/>
              <a:ea typeface="a시네마B" panose="02020600000000000000" pitchFamily="18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0E5C54E-6D60-CC5A-FFCA-831B46BB4C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9707" y="2903985"/>
            <a:ext cx="3041608" cy="3041608"/>
          </a:xfrm>
          <a:prstGeom prst="rect">
            <a:avLst/>
          </a:prstGeom>
        </p:spPr>
      </p:pic>
      <p:sp>
        <p:nvSpPr>
          <p:cNvPr id="2" name="Shape 5">
            <a:extLst>
              <a:ext uri="{FF2B5EF4-FFF2-40B4-BE49-F238E27FC236}">
                <a16:creationId xmlns:a16="http://schemas.microsoft.com/office/drawing/2014/main" id="{CB9A9450-C358-E2CD-E89C-B3F3D2CBFFD5}"/>
              </a:ext>
            </a:extLst>
          </p:cNvPr>
          <p:cNvSpPr/>
          <p:nvPr/>
        </p:nvSpPr>
        <p:spPr>
          <a:xfrm rot="5400000">
            <a:off x="5303981" y="4528109"/>
            <a:ext cx="3461822" cy="66502"/>
          </a:xfrm>
          <a:prstGeom prst="roundRect">
            <a:avLst>
              <a:gd name="adj" fmla="val 29208"/>
            </a:avLst>
          </a:prstGeom>
          <a:solidFill>
            <a:srgbClr val="38512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F345E0E5-9B3D-65A6-3CB2-BDA0196A0947}"/>
              </a:ext>
            </a:extLst>
          </p:cNvPr>
          <p:cNvSpPr/>
          <p:nvPr/>
        </p:nvSpPr>
        <p:spPr>
          <a:xfrm>
            <a:off x="12207630" y="6916615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25AA1B94-77C2-5F17-37A8-D8A75E6F7F92}"/>
              </a:ext>
            </a:extLst>
          </p:cNvPr>
          <p:cNvSpPr/>
          <p:nvPr/>
        </p:nvSpPr>
        <p:spPr>
          <a:xfrm>
            <a:off x="6307015" y="1054874"/>
            <a:ext cx="7468553" cy="95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500"/>
              </a:lnSpc>
            </a:pPr>
            <a:r>
              <a:rPr lang="ko-KR" altLang="en-US" sz="60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경쟁 우위</a:t>
            </a:r>
            <a:endParaRPr lang="en-US" sz="6000">
              <a:solidFill>
                <a:srgbClr val="38512F"/>
              </a:solidFill>
              <a:latin typeface="a시네마B" panose="02020600000000000000" pitchFamily="18" charset="-127"/>
              <a:ea typeface="a시네마B" panose="02020600000000000000" pitchFamily="18" charset="-127"/>
              <a:cs typeface="Lora" pitchFamily="34" charset="-120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786367B-49C1-AB03-2AC3-7DD590C249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071432"/>
              </p:ext>
            </p:extLst>
          </p:nvPr>
        </p:nvGraphicFramePr>
        <p:xfrm>
          <a:off x="6307015" y="2733432"/>
          <a:ext cx="7997803" cy="3964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3040">
                  <a:extLst>
                    <a:ext uri="{9D8B030D-6E8A-4147-A177-3AD203B41FA5}">
                      <a16:colId xmlns:a16="http://schemas.microsoft.com/office/drawing/2014/main" val="1071525319"/>
                    </a:ext>
                  </a:extLst>
                </a:gridCol>
                <a:gridCol w="1302327">
                  <a:extLst>
                    <a:ext uri="{9D8B030D-6E8A-4147-A177-3AD203B41FA5}">
                      <a16:colId xmlns:a16="http://schemas.microsoft.com/office/drawing/2014/main" val="3658960705"/>
                    </a:ext>
                  </a:extLst>
                </a:gridCol>
                <a:gridCol w="1392382">
                  <a:extLst>
                    <a:ext uri="{9D8B030D-6E8A-4147-A177-3AD203B41FA5}">
                      <a16:colId xmlns:a16="http://schemas.microsoft.com/office/drawing/2014/main" val="4100068856"/>
                    </a:ext>
                  </a:extLst>
                </a:gridCol>
                <a:gridCol w="1461654">
                  <a:extLst>
                    <a:ext uri="{9D8B030D-6E8A-4147-A177-3AD203B41FA5}">
                      <a16:colId xmlns:a16="http://schemas.microsoft.com/office/drawing/2014/main" val="2869945008"/>
                    </a:ext>
                  </a:extLst>
                </a:gridCol>
                <a:gridCol w="1253837">
                  <a:extLst>
                    <a:ext uri="{9D8B030D-6E8A-4147-A177-3AD203B41FA5}">
                      <a16:colId xmlns:a16="http://schemas.microsoft.com/office/drawing/2014/main" val="2199807676"/>
                    </a:ext>
                  </a:extLst>
                </a:gridCol>
                <a:gridCol w="1184563">
                  <a:extLst>
                    <a:ext uri="{9D8B030D-6E8A-4147-A177-3AD203B41FA5}">
                      <a16:colId xmlns:a16="http://schemas.microsoft.com/office/drawing/2014/main" val="2123413981"/>
                    </a:ext>
                  </a:extLst>
                </a:gridCol>
              </a:tblGrid>
              <a:tr h="628426">
                <a:tc>
                  <a:txBody>
                    <a:bodyPr/>
                    <a:lstStyle/>
                    <a:p>
                      <a:pPr algn="ctr" latinLnBrk="1"/>
                      <a:endParaRPr lang="ko-KR" altLang="en-US" b="1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초보자 </a:t>
                      </a:r>
                      <a:endParaRPr lang="en-US" altLang="ko-KR" sz="1800" b="1" i="0" kern="1200">
                        <a:solidFill>
                          <a:schemeClr val="lt1"/>
                        </a:solidFill>
                        <a:effectLst/>
                        <a:latin typeface="a시네마B" panose="02020600000000000000" pitchFamily="18" charset="-127"/>
                        <a:ea typeface="a시네마B" panose="02020600000000000000" pitchFamily="18" charset="-127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800" b="1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친화성</a:t>
                      </a:r>
                      <a:endParaRPr lang="ko-KR" altLang="en-US" b="1">
                        <a:ln>
                          <a:noFill/>
                        </a:ln>
                        <a:latin typeface="a시네마B" panose="02020600000000000000" pitchFamily="18" charset="-127"/>
                        <a:ea typeface="a시네마B" panose="02020600000000000000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ln>
                            <a:noFill/>
                          </a:ln>
                          <a:latin typeface="a시네마B" panose="02020600000000000000" pitchFamily="18" charset="-127"/>
                          <a:ea typeface="a시네마B" panose="02020600000000000000" pitchFamily="18" charset="-127"/>
                        </a:rPr>
                        <a:t>맞춤형 조언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0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자동 경고</a:t>
                      </a:r>
                      <a:endParaRPr lang="ko-KR" altLang="en-US" b="1">
                        <a:ln>
                          <a:noFill/>
                        </a:ln>
                        <a:latin typeface="a시네마B" panose="02020600000000000000" pitchFamily="18" charset="-127"/>
                        <a:ea typeface="a시네마B" panose="02020600000000000000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ln>
                            <a:noFill/>
                          </a:ln>
                          <a:latin typeface="a시네마B" panose="02020600000000000000" pitchFamily="18" charset="-127"/>
                          <a:ea typeface="a시네마B" panose="02020600000000000000" pitchFamily="18" charset="-127"/>
                        </a:rPr>
                        <a:t>휴대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ln>
                            <a:noFill/>
                          </a:ln>
                          <a:latin typeface="a시네마B" panose="02020600000000000000" pitchFamily="18" charset="-127"/>
                          <a:ea typeface="a시네마B" panose="02020600000000000000" pitchFamily="18" charset="-127"/>
                        </a:rPr>
                        <a:t>기기 가격</a:t>
                      </a:r>
                      <a:endParaRPr lang="en-US" altLang="ko-KR" b="1">
                        <a:ln>
                          <a:noFill/>
                        </a:ln>
                        <a:latin typeface="a시네마B" panose="02020600000000000000" pitchFamily="18" charset="-127"/>
                        <a:ea typeface="a시네마B" panose="02020600000000000000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54380"/>
                  </a:ext>
                </a:extLst>
              </a:tr>
              <a:tr h="6284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>
                          <a:ln>
                            <a:noFill/>
                          </a:ln>
                        </a:rPr>
                        <a:t>Green Stab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>
                          <a:ln>
                            <a:noFill/>
                          </a:ln>
                          <a:latin typeface="a시네마B" panose="02020600000000000000" pitchFamily="18" charset="-127"/>
                          <a:ea typeface="a시네마B" panose="02020600000000000000" pitchFamily="18" charset="-127"/>
                        </a:rPr>
                        <a:t>2</a:t>
                      </a:r>
                      <a:r>
                        <a:rPr lang="ko-KR" altLang="en-US" b="0">
                          <a:ln>
                            <a:noFill/>
                          </a:ln>
                          <a:latin typeface="a시네마B" panose="02020600000000000000" pitchFamily="18" charset="-127"/>
                          <a:ea typeface="a시네마B" panose="02020600000000000000" pitchFamily="18" charset="-127"/>
                        </a:rPr>
                        <a:t>만원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E4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0956"/>
                  </a:ext>
                </a:extLst>
              </a:tr>
              <a:tr h="628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Greg (App)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>
                          <a:ln>
                            <a:noFill/>
                          </a:ln>
                        </a:rPr>
                        <a:t>-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93904"/>
                  </a:ext>
                </a:extLst>
              </a:tr>
              <a:tr h="628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Click &amp; Grow (Smart Pot)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>
                          <a:ln>
                            <a:noFill/>
                          </a:ln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15</a:t>
                      </a:r>
                      <a:r>
                        <a:rPr lang="ko-KR" altLang="en-US" b="0">
                          <a:ln>
                            <a:noFill/>
                          </a:ln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만원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63695"/>
                  </a:ext>
                </a:extLst>
              </a:tr>
              <a:tr h="6198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Xiaomi </a:t>
                      </a:r>
                      <a:b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(Smart Pot)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>
                          <a:ln>
                            <a:noFill/>
                          </a:ln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8</a:t>
                      </a:r>
                      <a:r>
                        <a:rPr lang="ko-KR" altLang="en-US" b="0">
                          <a:ln>
                            <a:noFill/>
                          </a:ln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만원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242225"/>
                  </a:ext>
                </a:extLst>
              </a:tr>
              <a:tr h="619817">
                <a:tc>
                  <a:txBody>
                    <a:bodyPr/>
                    <a:lstStyle/>
                    <a:p>
                      <a:pPr algn="ctr" fontAlgn="t">
                        <a:lnSpc>
                          <a:spcPts val="1350"/>
                        </a:lnSpc>
                        <a:buNone/>
                      </a:pPr>
                      <a:br>
                        <a:rPr lang="en-US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Chirp</a:t>
                      </a:r>
                      <a:endParaRPr lang="en-US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ctr" fontAlgn="t">
                        <a:lnSpc>
                          <a:spcPts val="1350"/>
                        </a:lnSpc>
                        <a:buNone/>
                      </a:pPr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(Embedded Sensor)</a:t>
                      </a:r>
                      <a:endParaRPr lang="en-US">
                        <a:effectLst/>
                      </a:endParaRPr>
                    </a:p>
                  </a:txBody>
                  <a:tcPr marT="23813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b="0">
                        <a:ln>
                          <a:noFill/>
                        </a:ln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>
                          <a:ln>
                            <a:noFill/>
                          </a:ln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3</a:t>
                      </a:r>
                      <a:r>
                        <a:rPr lang="ko-KR" altLang="en-US" b="0">
                          <a:ln>
                            <a:noFill/>
                          </a:ln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만원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04187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16C22A31-4315-7462-91DF-1016D7AF5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5542" y="601102"/>
            <a:ext cx="10780752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400" dirty="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Why Now</a:t>
            </a:r>
            <a:r>
              <a:rPr 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? - </a:t>
            </a:r>
            <a:r>
              <a:rPr lang="ko-KR" alt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시장동향 </a:t>
            </a:r>
            <a:r>
              <a:rPr 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&amp; </a:t>
            </a:r>
            <a:r>
              <a:rPr lang="ko-KR" alt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예상되는 기회</a:t>
            </a:r>
            <a:endParaRPr lang="en-US" sz="5400">
              <a:solidFill>
                <a:srgbClr val="38512F"/>
              </a:solidFill>
              <a:latin typeface="a시네마B" panose="02020600000000000000" pitchFamily="18" charset="-127"/>
              <a:ea typeface="a시네마B" panose="02020600000000000000" pitchFamily="18" charset="-127"/>
              <a:cs typeface="Lora" pitchFamily="34" charset="-12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132" y="2429709"/>
            <a:ext cx="598408" cy="5984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36132" y="3327321"/>
            <a:ext cx="4256430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ko-KR" altLang="en-US" sz="3200">
                <a:solidFill>
                  <a:srgbClr val="3A3630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인테리어 트렌드</a:t>
            </a:r>
            <a:endParaRPr lang="en-US" sz="3200" dirty="0">
              <a:latin typeface="a시네마B" panose="02020600000000000000" pitchFamily="18" charset="-127"/>
              <a:ea typeface="a시네마B" panose="02020600000000000000" pitchFamily="18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436132" y="3834116"/>
            <a:ext cx="465986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800">
                <a:latin typeface="a시네마L" panose="02020600000000000000" pitchFamily="18" charset="-127"/>
                <a:ea typeface="a시네마L" panose="02020600000000000000" pitchFamily="18" charset="-127"/>
              </a:rPr>
              <a:t>홈 인테리어 트렌드에 힘입어</a:t>
            </a:r>
            <a:endParaRPr lang="en-US" altLang="ko-KR" sz="2800">
              <a:latin typeface="a시네마L" panose="02020600000000000000" pitchFamily="18" charset="-127"/>
              <a:ea typeface="a시네마L" panose="02020600000000000000" pitchFamily="18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2800">
                <a:latin typeface="a시네마L" panose="02020600000000000000" pitchFamily="18" charset="-127"/>
                <a:ea typeface="a시네마L" panose="02020600000000000000" pitchFamily="18" charset="-127"/>
              </a:rPr>
              <a:t>급증하는 홈 가드닝에 대한 수요</a:t>
            </a:r>
            <a:endParaRPr lang="en-US" sz="10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132" y="5375085"/>
            <a:ext cx="598408" cy="5984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36132" y="627269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320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IoT &amp; AI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1436132" y="6768235"/>
            <a:ext cx="4879764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원격 식물 관리를 위한 </a:t>
            </a:r>
            <a:endParaRPr lang="en-US" altLang="ko-KR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>
              <a:lnSpc>
                <a:spcPts val="3000"/>
              </a:lnSpc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IoT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센서와 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AI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의 광범위한 가용성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.</a:t>
            </a:r>
            <a:endParaRPr lang="en-US" sz="28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5367530"/>
            <a:ext cx="718024" cy="5984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66962" y="6231133"/>
            <a:ext cx="3379111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320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DIY &amp; Contactless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7366961" y="6726671"/>
            <a:ext cx="494216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800">
                <a:latin typeface="a시네마L" panose="02020600000000000000" pitchFamily="18" charset="-127"/>
                <a:ea typeface="a시네마L" panose="02020600000000000000" pitchFamily="18" charset="-127"/>
              </a:rPr>
              <a:t>비대면 셀프 여가 활동의 확산</a:t>
            </a:r>
            <a:endParaRPr lang="en-US" sz="28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35993C1-D12E-5377-5BD7-A7E756ABABA7}"/>
              </a:ext>
            </a:extLst>
          </p:cNvPr>
          <p:cNvSpPr/>
          <p:nvPr/>
        </p:nvSpPr>
        <p:spPr>
          <a:xfrm>
            <a:off x="12207630" y="6877790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CF9438D6-66F1-AC5A-22AF-6E2890522237}"/>
              </a:ext>
            </a:extLst>
          </p:cNvPr>
          <p:cNvSpPr/>
          <p:nvPr/>
        </p:nvSpPr>
        <p:spPr>
          <a:xfrm>
            <a:off x="7552750" y="3300173"/>
            <a:ext cx="5075667" cy="1955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800">
                <a:latin typeface="a시네마L" panose="02020600000000000000" pitchFamily="18" charset="-127"/>
                <a:ea typeface="a시네마L" panose="02020600000000000000" pitchFamily="18" charset="-127"/>
              </a:rPr>
              <a:t>글로벌 홈 가드닝 시장 성장 </a:t>
            </a:r>
            <a:br>
              <a:rPr lang="en-US" sz="2800">
                <a:latin typeface="a시네마L" panose="02020600000000000000" pitchFamily="18" charset="-127"/>
                <a:ea typeface="a시네마L" panose="02020600000000000000" pitchFamily="18" charset="-127"/>
              </a:rPr>
            </a:br>
            <a:r>
              <a:rPr lang="en-US" sz="2800">
                <a:latin typeface="a시네마L" panose="02020600000000000000" pitchFamily="18" charset="-127"/>
                <a:ea typeface="a시네마L" panose="02020600000000000000" pitchFamily="18" charset="-127"/>
              </a:rPr>
              <a:t>    </a:t>
            </a:r>
            <a:r>
              <a:rPr lang="en-US">
                <a:latin typeface="a시네마L" panose="02020600000000000000" pitchFamily="18" charset="-127"/>
                <a:ea typeface="a시네마L" panose="02020600000000000000" pitchFamily="18" charset="-127"/>
              </a:rPr>
              <a:t>21</a:t>
            </a:r>
            <a:r>
              <a:rPr lang="ko-KR" altLang="en-US">
                <a:latin typeface="a시네마L" panose="02020600000000000000" pitchFamily="18" charset="-127"/>
                <a:ea typeface="a시네마L" panose="02020600000000000000" pitchFamily="18" charset="-127"/>
              </a:rPr>
              <a:t>조 </a:t>
            </a:r>
            <a:r>
              <a:rPr lang="en-US" altLang="ko-KR">
                <a:latin typeface="a시네마L" panose="02020600000000000000" pitchFamily="18" charset="-127"/>
                <a:ea typeface="a시네마L" panose="02020600000000000000" pitchFamily="18" charset="-127"/>
              </a:rPr>
              <a:t>8000</a:t>
            </a:r>
            <a:r>
              <a:rPr lang="ko-KR" altLang="en-US">
                <a:latin typeface="a시네마L" panose="02020600000000000000" pitchFamily="18" charset="-127"/>
                <a:ea typeface="a시네마L" panose="02020600000000000000" pitchFamily="18" charset="-127"/>
              </a:rPr>
              <a:t>억 </a:t>
            </a:r>
            <a:r>
              <a:rPr lang="en-US">
                <a:latin typeface="a시네마L" panose="02020600000000000000" pitchFamily="18" charset="-127"/>
                <a:ea typeface="a시네마L" panose="02020600000000000000" pitchFamily="18" charset="-127"/>
              </a:rPr>
              <a:t>- 2024</a:t>
            </a:r>
            <a:br>
              <a:rPr lang="en-US">
                <a:latin typeface="a시네마L" panose="02020600000000000000" pitchFamily="18" charset="-127"/>
                <a:ea typeface="a시네마L" panose="02020600000000000000" pitchFamily="18" charset="-127"/>
              </a:rPr>
            </a:br>
            <a:r>
              <a:rPr lang="en-US" altLang="ko-KR">
                <a:latin typeface="a시네마L" panose="02020600000000000000" pitchFamily="18" charset="-127"/>
                <a:ea typeface="a시네마L" panose="02020600000000000000" pitchFamily="18" charset="-127"/>
              </a:rPr>
              <a:t>      23</a:t>
            </a:r>
            <a:r>
              <a:rPr lang="ko-KR" altLang="en-US">
                <a:latin typeface="a시네마L" panose="02020600000000000000" pitchFamily="18" charset="-127"/>
                <a:ea typeface="a시네마L" panose="02020600000000000000" pitchFamily="18" charset="-127"/>
              </a:rPr>
              <a:t>조 </a:t>
            </a:r>
            <a:r>
              <a:rPr lang="en-US" altLang="ko-KR">
                <a:latin typeface="a시네마L" panose="02020600000000000000" pitchFamily="18" charset="-127"/>
                <a:ea typeface="a시네마L" panose="02020600000000000000" pitchFamily="18" charset="-127"/>
              </a:rPr>
              <a:t>2000</a:t>
            </a:r>
            <a:r>
              <a:rPr lang="ko-KR" altLang="en-US">
                <a:latin typeface="a시네마L" panose="02020600000000000000" pitchFamily="18" charset="-127"/>
                <a:ea typeface="a시네마L" panose="02020600000000000000" pitchFamily="18" charset="-127"/>
              </a:rPr>
              <a:t>억 </a:t>
            </a:r>
            <a:r>
              <a:rPr lang="en-US">
                <a:latin typeface="a시네마L" panose="02020600000000000000" pitchFamily="18" charset="-127"/>
                <a:ea typeface="a시네마L" panose="02020600000000000000" pitchFamily="18" charset="-127"/>
              </a:rPr>
              <a:t> - 2025, </a:t>
            </a:r>
            <a:br>
              <a:rPr lang="en-US">
                <a:latin typeface="a시네마L" panose="02020600000000000000" pitchFamily="18" charset="-127"/>
                <a:ea typeface="a시네마L" panose="02020600000000000000" pitchFamily="18" charset="-127"/>
              </a:rPr>
            </a:br>
            <a:r>
              <a:rPr lang="en-US" altLang="ko-KR">
                <a:latin typeface="a시네마L" panose="02020600000000000000" pitchFamily="18" charset="-127"/>
                <a:ea typeface="a시네마L" panose="02020600000000000000" pitchFamily="18" charset="-127"/>
              </a:rPr>
              <a:t>      </a:t>
            </a:r>
            <a:r>
              <a:rPr lang="en-US">
                <a:latin typeface="a시네마L" panose="02020600000000000000" pitchFamily="18" charset="-127"/>
                <a:ea typeface="a시네마L" panose="02020600000000000000" pitchFamily="18" charset="-127"/>
              </a:rPr>
              <a:t>2034</a:t>
            </a:r>
            <a:r>
              <a:rPr lang="ko-KR" altLang="en-US">
                <a:latin typeface="a시네마L" panose="02020600000000000000" pitchFamily="18" charset="-127"/>
                <a:ea typeface="a시네마L" panose="02020600000000000000" pitchFamily="18" charset="-127"/>
              </a:rPr>
              <a:t>년까지 매년 </a:t>
            </a:r>
            <a:r>
              <a:rPr lang="en-US" altLang="ko-KR">
                <a:latin typeface="a시네마L" panose="02020600000000000000" pitchFamily="18" charset="-127"/>
                <a:ea typeface="a시네마L" panose="02020600000000000000" pitchFamily="18" charset="-127"/>
              </a:rPr>
              <a:t>5.92% CAGR </a:t>
            </a:r>
            <a:r>
              <a:rPr lang="ko-KR" altLang="en-US">
                <a:latin typeface="a시네마L" panose="02020600000000000000" pitchFamily="18" charset="-127"/>
                <a:ea typeface="a시네마L" panose="02020600000000000000" pitchFamily="18" charset="-127"/>
              </a:rPr>
              <a:t>예상</a:t>
            </a:r>
            <a:endParaRPr lang="en-US" sz="10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82098-E1E5-8D01-BA0C-0CD510C04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F32772D5-AA2C-43B7-D2C7-EEC1A23FDB30}"/>
              </a:ext>
            </a:extLst>
          </p:cNvPr>
          <p:cNvSpPr/>
          <p:nvPr/>
        </p:nvSpPr>
        <p:spPr>
          <a:xfrm>
            <a:off x="12207630" y="6916615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F069BA-4595-1439-D77F-74428FCA5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088986"/>
              </p:ext>
            </p:extLst>
          </p:nvPr>
        </p:nvGraphicFramePr>
        <p:xfrm>
          <a:off x="856447" y="2008909"/>
          <a:ext cx="13233625" cy="5378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408">
                  <a:extLst>
                    <a:ext uri="{9D8B030D-6E8A-4147-A177-3AD203B41FA5}">
                      <a16:colId xmlns:a16="http://schemas.microsoft.com/office/drawing/2014/main" val="1071525319"/>
                    </a:ext>
                  </a:extLst>
                </a:gridCol>
                <a:gridCol w="5131114">
                  <a:extLst>
                    <a:ext uri="{9D8B030D-6E8A-4147-A177-3AD203B41FA5}">
                      <a16:colId xmlns:a16="http://schemas.microsoft.com/office/drawing/2014/main" val="3658960705"/>
                    </a:ext>
                  </a:extLst>
                </a:gridCol>
                <a:gridCol w="1986693">
                  <a:extLst>
                    <a:ext uri="{9D8B030D-6E8A-4147-A177-3AD203B41FA5}">
                      <a16:colId xmlns:a16="http://schemas.microsoft.com/office/drawing/2014/main" val="4100068856"/>
                    </a:ext>
                  </a:extLst>
                </a:gridCol>
                <a:gridCol w="5053410">
                  <a:extLst>
                    <a:ext uri="{9D8B030D-6E8A-4147-A177-3AD203B41FA5}">
                      <a16:colId xmlns:a16="http://schemas.microsoft.com/office/drawing/2014/main" val="2869945008"/>
                    </a:ext>
                  </a:extLst>
                </a:gridCol>
              </a:tblGrid>
              <a:tr h="975956"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endParaRPr lang="ko-KR" altLang="en-US" sz="2400" b="0">
                        <a:effectLst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ko-KR" altLang="en-US" sz="3600" b="0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정의</a:t>
                      </a:r>
                      <a:endParaRPr lang="ko-KR" altLang="en-US" sz="3600" b="0">
                        <a:effectLst/>
                        <a:latin typeface="a시네마B" panose="02020600000000000000" pitchFamily="18" charset="-127"/>
                        <a:ea typeface="a시네마B" panose="02020600000000000000" pitchFamily="18" charset="-127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ko-KR" altLang="en-US" sz="2000" b="0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시장규모</a:t>
                      </a:r>
                      <a:r>
                        <a:rPr lang="ko-KR" altLang="en-US" sz="2400" b="0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 </a:t>
                      </a:r>
                      <a:r>
                        <a:rPr lang="en-US" altLang="ko-KR" sz="2400" b="0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(KRW)</a:t>
                      </a:r>
                      <a:endParaRPr lang="en-US" sz="2400" b="0">
                        <a:effectLst/>
                        <a:latin typeface="a시네마B" panose="02020600000000000000" pitchFamily="18" charset="-127"/>
                        <a:ea typeface="a시네마B" panose="02020600000000000000" pitchFamily="18" charset="-127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ko-KR" altLang="en-US" sz="2400" b="0" i="0" kern="1200">
                          <a:solidFill>
                            <a:schemeClr val="lt1"/>
                          </a:solidFill>
                          <a:effectLst/>
                          <a:latin typeface="a시네마B" panose="02020600000000000000" pitchFamily="18" charset="-127"/>
                          <a:ea typeface="a시네마B" panose="02020600000000000000" pitchFamily="18" charset="-127"/>
                          <a:cs typeface="+mn-cs"/>
                        </a:rPr>
                        <a:t>분석 근거 및 전제 조건</a:t>
                      </a:r>
                      <a:endParaRPr lang="ko-KR" altLang="en-US" sz="2400" b="0">
                        <a:effectLst/>
                        <a:latin typeface="a시네마B" panose="02020600000000000000" pitchFamily="18" charset="-127"/>
                        <a:ea typeface="a시네마B" panose="02020600000000000000" pitchFamily="18" charset="-127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54380"/>
                  </a:ext>
                </a:extLst>
              </a:tr>
              <a:tr h="994054"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sz="2400">
                          <a:effectLst/>
                        </a:rPr>
                        <a:t>TAM</a:t>
                      </a:r>
                      <a:endParaRPr lang="ko-KR" altLang="en-US" sz="24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ko-KR" altLang="en-US" sz="2400">
                          <a:effectLst/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글로벌 홈 가드닝</a:t>
                      </a: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 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1,500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</a:t>
                      </a:r>
                      <a:endParaRPr lang="en-US" sz="32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글로벌 홈 가드닝 시장 규모</a:t>
                      </a:r>
                      <a:endParaRPr lang="en-US" altLang="ko-KR" sz="2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0956"/>
                  </a:ext>
                </a:extLst>
              </a:tr>
              <a:tr h="994054"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altLang="ko-KR" sz="2400">
                          <a:effectLst/>
                        </a:rPr>
                        <a:t>SAM</a:t>
                      </a:r>
                      <a:endParaRPr lang="ko-KR" altLang="en-US" sz="24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ko-KR" altLang="en-US" sz="2400">
                          <a:effectLst/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 글로벌 스마트 실내 가드닝 시스템 시장</a:t>
                      </a: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 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2,600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</a:t>
                      </a:r>
                      <a:endParaRPr lang="en-US" sz="32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스마트 실내 가드닝 시스템 시장 규모﻿</a:t>
                      </a:r>
                      <a:endParaRPr lang="ko-KR" altLang="en-US" sz="24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93904"/>
                  </a:ext>
                </a:extLst>
              </a:tr>
              <a:tr h="1420078"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altLang="ko-KR" sz="2400">
                          <a:effectLst/>
                        </a:rPr>
                        <a:t>SOM</a:t>
                      </a:r>
                      <a:endParaRPr lang="ko-KR" altLang="en-US" sz="24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ko-KR" altLang="en-US" sz="2400">
                          <a:effectLst/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아시아</a:t>
                      </a:r>
                      <a:r>
                        <a:rPr lang="en-US" altLang="ko-KR" sz="2400">
                          <a:effectLst/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·</a:t>
                      </a:r>
                      <a:r>
                        <a:rPr lang="ko-KR" altLang="en-US" sz="2400">
                          <a:effectLst/>
                          <a:latin typeface="a시네마L" panose="02020600000000000000" pitchFamily="18" charset="-127"/>
                          <a:ea typeface="a시네마L" panose="02020600000000000000" pitchFamily="18" charset="-127"/>
                        </a:rPr>
                        <a:t>태평양 스마트 실내 가드닝 시장</a:t>
                      </a: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 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2,800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</a:t>
                      </a:r>
                      <a:endParaRPr lang="en-US" sz="32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30%﻿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 지역 시장 </a:t>
                      </a:r>
                      <a:endParaRPr lang="en-US" altLang="ko-KR" sz="32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63695"/>
                  </a:ext>
                </a:extLst>
              </a:tr>
              <a:tr h="994054"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altLang="ko-KR" sz="2400">
                          <a:effectLst/>
                        </a:rPr>
                        <a:t>LAM</a:t>
                      </a:r>
                      <a:endParaRPr lang="ko-KR" altLang="en-US" sz="24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a시네마L" panose="02020600000000000000" pitchFamily="18" charset="-127"/>
                          <a:ea typeface="a시네마L" panose="02020600000000000000" pitchFamily="18" charset="-127"/>
                          <a:cs typeface="+mn-cs"/>
                        </a:rPr>
                        <a:t>한국 초기 사용자 타깃 시장﻿</a:t>
                      </a:r>
                      <a:endParaRPr lang="ko-KR" altLang="en-US" sz="2400">
                        <a:effectLst/>
                        <a:latin typeface="a시네마L" panose="02020600000000000000" pitchFamily="18" charset="-127"/>
                        <a:ea typeface="a시네마L" panose="02020600000000000000" pitchFamily="18" charset="-127"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</a:t>
                      </a:r>
                      <a:endParaRPr lang="en-US" sz="32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SOM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10%</a:t>
                      </a:r>
                      <a:r>
                        <a:rPr lang="ko-KR" altLang="en-US" sz="2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 초기 시장 침투율</a:t>
                      </a:r>
                      <a:endParaRPr lang="en-US" altLang="ko-KR" sz="3200">
                        <a:effectLst/>
                      </a:endParaRPr>
                    </a:p>
                  </a:txBody>
                  <a:tcPr marL="38100" marR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24222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FE7E6425-1532-ECBD-C836-B74A063B9AD6}"/>
              </a:ext>
            </a:extLst>
          </p:cNvPr>
          <p:cNvSpPr/>
          <p:nvPr/>
        </p:nvSpPr>
        <p:spPr>
          <a:xfrm>
            <a:off x="731756" y="671711"/>
            <a:ext cx="7999050" cy="829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ko-KR" altLang="en-US" sz="4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시장분석 오버뷰</a:t>
            </a:r>
            <a:endParaRPr lang="en-US" sz="4400">
              <a:solidFill>
                <a:srgbClr val="38512F"/>
              </a:solidFill>
              <a:latin typeface="a시네마B" panose="02020600000000000000" pitchFamily="18" charset="-127"/>
              <a:ea typeface="a시네마B" panose="02020600000000000000" pitchFamily="18" charset="-127"/>
              <a:cs typeface="Lor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28129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7FBF32F-EE83-5786-0F64-65E63BFC9003}"/>
              </a:ext>
            </a:extLst>
          </p:cNvPr>
          <p:cNvSpPr/>
          <p:nvPr/>
        </p:nvSpPr>
        <p:spPr>
          <a:xfrm>
            <a:off x="12207630" y="6751501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0"/>
          <p:cNvSpPr/>
          <p:nvPr/>
        </p:nvSpPr>
        <p:spPr>
          <a:xfrm>
            <a:off x="579066" y="846584"/>
            <a:ext cx="4382953" cy="623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ko-KR" altLang="en-US" sz="60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비즈니스 모델</a:t>
            </a:r>
            <a:endParaRPr lang="en-US" altLang="ko-KR" sz="6000" dirty="0">
              <a:latin typeface="a시네마B" panose="02020600000000000000" pitchFamily="18" charset="-127"/>
              <a:ea typeface="a시네마B" panose="02020600000000000000" pitchFamily="18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45090" y="188969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ko-KR" altLang="en-US" sz="36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구독 모델별 서비스</a:t>
            </a:r>
            <a:endParaRPr lang="en-US" sz="36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1283899" y="2521278"/>
            <a:ext cx="8183331" cy="5014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Free Version</a:t>
            </a:r>
          </a:p>
          <a:p>
            <a:pPr>
              <a:lnSpc>
                <a:spcPts val="3000"/>
              </a:lnSpc>
              <a:buSzPct val="100000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 IOT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기기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($15)</a:t>
            </a:r>
          </a:p>
          <a:p>
            <a:pPr>
              <a:lnSpc>
                <a:spcPts val="3000"/>
              </a:lnSpc>
              <a:buSzPct val="100000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실시간 데이터 제공</a:t>
            </a:r>
            <a:endParaRPr lang="en-US" altLang="ko-KR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>
              <a:lnSpc>
                <a:spcPts val="3000"/>
              </a:lnSpc>
              <a:buSzPct val="100000"/>
            </a:pPr>
            <a:endParaRPr lang="en-US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Payment 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Version</a:t>
            </a:r>
            <a:endParaRPr lang="en-US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>
              <a:lnSpc>
                <a:spcPts val="3000"/>
              </a:lnSpc>
              <a:buSzPct val="100000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  Free Version +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조언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+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경고</a:t>
            </a:r>
            <a:endParaRPr lang="en-US" altLang="ko-KR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>
              <a:lnSpc>
                <a:spcPts val="3000"/>
              </a:lnSpc>
              <a:buSzPct val="100000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 </a:t>
            </a:r>
            <a:r>
              <a:rPr 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$</a:t>
            </a:r>
            <a:r>
              <a:rPr lang="en-US" sz="2800" dirty="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3</a:t>
            </a:r>
            <a:r>
              <a:rPr 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/month</a:t>
            </a:r>
            <a:br>
              <a:rPr 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</a:b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</a:t>
            </a:r>
            <a:r>
              <a:rPr 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6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개월 구독 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(+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디바이스 무료제공</a:t>
            </a: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)</a:t>
            </a:r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endParaRPr lang="en-US" altLang="ko-KR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Premiem Version</a:t>
            </a:r>
          </a:p>
          <a:p>
            <a:pPr>
              <a:lnSpc>
                <a:spcPts val="3000"/>
              </a:lnSpc>
              <a:buSzPct val="100000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  Payment Version + </a:t>
            </a:r>
            <a:r>
              <a:rPr lang="ko-KR" altLang="en-US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능동적인 질문기회</a:t>
            </a:r>
            <a:endParaRPr lang="en-US" altLang="ko-KR" sz="2800">
              <a:solidFill>
                <a:srgbClr val="3A3630"/>
              </a:solidFill>
              <a:latin typeface="a시네마L" panose="02020600000000000000" pitchFamily="18" charset="-127"/>
              <a:ea typeface="a시네마L" panose="02020600000000000000" pitchFamily="18" charset="-127"/>
              <a:cs typeface="Source Sans Pro" pitchFamily="34" charset="-120"/>
            </a:endParaRPr>
          </a:p>
          <a:p>
            <a:pPr>
              <a:lnSpc>
                <a:spcPts val="3000"/>
              </a:lnSpc>
              <a:buSzPct val="100000"/>
            </a:pPr>
            <a:r>
              <a:rPr lang="en-US" altLang="ko-KR" sz="28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          -  5$/month</a:t>
            </a:r>
            <a:endParaRPr lang="en-US" altLang="ko-KR" sz="2800">
              <a:latin typeface="a시네마L" panose="02020600000000000000" pitchFamily="18" charset="-127"/>
              <a:ea typeface="a시네마L" panose="02020600000000000000" pitchFamily="18" charset="-127"/>
            </a:endParaRPr>
          </a:p>
          <a:p>
            <a:pPr>
              <a:lnSpc>
                <a:spcPts val="3000"/>
              </a:lnSpc>
              <a:buSzPct val="100000"/>
            </a:pPr>
            <a:endParaRPr lang="en-US" altLang="ko-KR" sz="2800">
              <a:latin typeface="a시네마L" panose="02020600000000000000" pitchFamily="18" charset="-127"/>
              <a:ea typeface="a시네마L" panose="02020600000000000000" pitchFamily="18" charset="-127"/>
            </a:endParaRPr>
          </a:p>
          <a:p>
            <a:pPr>
              <a:lnSpc>
                <a:spcPts val="3000"/>
              </a:lnSpc>
              <a:buSzPct val="100000"/>
            </a:pPr>
            <a:endParaRPr lang="en-US" sz="28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429E93-A6FC-9C1B-1B22-6D8CA8181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0927" y="0"/>
            <a:ext cx="5479473" cy="82393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810C5FE9-3121-5150-BDAB-2F492CBF6256}"/>
              </a:ext>
            </a:extLst>
          </p:cNvPr>
          <p:cNvSpPr/>
          <p:nvPr/>
        </p:nvSpPr>
        <p:spPr>
          <a:xfrm>
            <a:off x="12207630" y="6916615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0"/>
          <p:cNvSpPr/>
          <p:nvPr/>
        </p:nvSpPr>
        <p:spPr>
          <a:xfrm>
            <a:off x="1221689" y="1269468"/>
            <a:ext cx="414694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ko-KR" altLang="en-US" sz="72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재무전망</a:t>
            </a:r>
            <a:endParaRPr lang="en-US" sz="7200">
              <a:solidFill>
                <a:srgbClr val="38512F"/>
              </a:solidFill>
              <a:latin typeface="a시네마B" panose="02020600000000000000" pitchFamily="18" charset="-127"/>
              <a:ea typeface="a시네마B" panose="02020600000000000000" pitchFamily="18" charset="-127"/>
              <a:cs typeface="Lora" pitchFamily="34" charset="-120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22558BD-129D-39C8-2C3D-0BE606B53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136011"/>
              </p:ext>
            </p:extLst>
          </p:nvPr>
        </p:nvGraphicFramePr>
        <p:xfrm>
          <a:off x="5133110" y="5744297"/>
          <a:ext cx="8659091" cy="2214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7402">
                  <a:extLst>
                    <a:ext uri="{9D8B030D-6E8A-4147-A177-3AD203B41FA5}">
                      <a16:colId xmlns:a16="http://schemas.microsoft.com/office/drawing/2014/main" val="1057702237"/>
                    </a:ext>
                  </a:extLst>
                </a:gridCol>
                <a:gridCol w="979380">
                  <a:extLst>
                    <a:ext uri="{9D8B030D-6E8A-4147-A177-3AD203B41FA5}">
                      <a16:colId xmlns:a16="http://schemas.microsoft.com/office/drawing/2014/main" val="3163275508"/>
                    </a:ext>
                  </a:extLst>
                </a:gridCol>
                <a:gridCol w="1517072">
                  <a:extLst>
                    <a:ext uri="{9D8B030D-6E8A-4147-A177-3AD203B41FA5}">
                      <a16:colId xmlns:a16="http://schemas.microsoft.com/office/drawing/2014/main" val="1412357523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3578114088"/>
                    </a:ext>
                  </a:extLst>
                </a:gridCol>
                <a:gridCol w="1579418">
                  <a:extLst>
                    <a:ext uri="{9D8B030D-6E8A-4147-A177-3AD203B41FA5}">
                      <a16:colId xmlns:a16="http://schemas.microsoft.com/office/drawing/2014/main" val="149240764"/>
                    </a:ext>
                  </a:extLst>
                </a:gridCol>
                <a:gridCol w="1634837">
                  <a:extLst>
                    <a:ext uri="{9D8B030D-6E8A-4147-A177-3AD203B41FA5}">
                      <a16:colId xmlns:a16="http://schemas.microsoft.com/office/drawing/2014/main" val="10247550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Year 1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/>
                        <a:t>Year 2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/>
                        <a:t>Year 3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/>
                        <a:t>Year 4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/>
                        <a:t>Year 5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32803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Users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/>
                        <a:t>1,000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/>
                        <a:t>5,000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/>
                        <a:t>15,000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/>
                        <a:t>35,000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E43C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85,000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E4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9308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Revenue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8,620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129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301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733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5300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COGS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2,290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194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260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SG&amp;A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1,720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6950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EBITA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4,610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억 </a:t>
                      </a:r>
                      <a:r>
                        <a:rPr lang="en-US" altLang="ko-KR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0,000</a:t>
                      </a:r>
                      <a:r>
                        <a:rPr lang="ko-KR" altLang="en-US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840916"/>
                  </a:ext>
                </a:extLst>
              </a:tr>
            </a:tbl>
          </a:graphicData>
        </a:graphic>
      </p:graphicFrame>
      <p:pic>
        <p:nvPicPr>
          <p:cNvPr id="30" name="그림 29">
            <a:extLst>
              <a:ext uri="{FF2B5EF4-FFF2-40B4-BE49-F238E27FC236}">
                <a16:creationId xmlns:a16="http://schemas.microsoft.com/office/drawing/2014/main" id="{DB77B042-49C9-AB66-F4BA-F617F15CA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111" y="531791"/>
            <a:ext cx="6910962" cy="4942083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1236821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ko-KR" alt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우리의 비전</a:t>
            </a:r>
            <a:r>
              <a:rPr 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 </a:t>
            </a:r>
          </a:p>
          <a:p>
            <a:pPr marL="0" indent="0" algn="l">
              <a:lnSpc>
                <a:spcPts val="5500"/>
              </a:lnSpc>
              <a:buNone/>
            </a:pPr>
            <a:r>
              <a:rPr lang="en-US" sz="5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  </a:t>
            </a:r>
            <a:r>
              <a:rPr lang="en-US" sz="44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- Empowering Green Start</a:t>
            </a:r>
            <a:endParaRPr lang="en-US" sz="5400" dirty="0">
              <a:latin typeface="a시네마B" panose="02020600000000000000" pitchFamily="18" charset="-127"/>
              <a:ea typeface="a시네마B" panose="02020600000000000000" pitchFamily="18" charset="-127"/>
            </a:endParaRPr>
          </a:p>
        </p:txBody>
      </p:sp>
      <p:sp>
        <p:nvSpPr>
          <p:cNvPr id="4" name="Text 1"/>
          <p:cNvSpPr/>
          <p:nvPr/>
        </p:nvSpPr>
        <p:spPr>
          <a:xfrm>
            <a:off x="6324124" y="3003828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400">
                <a:latin typeface="a시네마L" panose="02020600000000000000" pitchFamily="18" charset="-127"/>
                <a:ea typeface="a시네마L" panose="02020600000000000000" pitchFamily="18" charset="-127"/>
              </a:rPr>
              <a:t>누구나 집에서 식물을 키울 수 있게</a:t>
            </a:r>
            <a:r>
              <a:rPr lang="en-US" altLang="ko-KR" sz="2400">
                <a:latin typeface="a시네마L" panose="02020600000000000000" pitchFamily="18" charset="-127"/>
                <a:ea typeface="a시네마L" panose="02020600000000000000" pitchFamily="18" charset="-127"/>
              </a:rPr>
              <a:t>,</a:t>
            </a:r>
          </a:p>
          <a:p>
            <a:pPr>
              <a:lnSpc>
                <a:spcPts val="3000"/>
              </a:lnSpc>
            </a:pPr>
            <a:r>
              <a:rPr lang="ko-KR" altLang="en-US" sz="2400">
                <a:latin typeface="a시네마L" panose="02020600000000000000" pitchFamily="18" charset="-127"/>
                <a:ea typeface="a시네마L" panose="02020600000000000000" pitchFamily="18" charset="-127"/>
              </a:rPr>
              <a:t>누구나 일상 속 힐링과 새로운 라이프스타일을 가질수 있도록</a:t>
            </a:r>
            <a:r>
              <a:rPr lang="en-US" altLang="ko-KR" sz="2400">
                <a:latin typeface="a시네마L" panose="02020600000000000000" pitchFamily="18" charset="-127"/>
                <a:ea typeface="a시네마L" panose="02020600000000000000" pitchFamily="18" charset="-127"/>
              </a:rPr>
              <a:t>!</a:t>
            </a:r>
            <a:endParaRPr lang="en-US" sz="24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6324124" y="4128849"/>
            <a:ext cx="3379470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ko-KR" altLang="en-US" sz="32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당부</a:t>
            </a:r>
            <a:r>
              <a:rPr lang="en-US" altLang="ko-KR" sz="32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, </a:t>
            </a:r>
            <a:r>
              <a:rPr lang="ko-KR" altLang="en-US" sz="32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또는 요구</a:t>
            </a:r>
            <a:r>
              <a:rPr lang="en-US" sz="3200">
                <a:solidFill>
                  <a:srgbClr val="38512F"/>
                </a:solidFill>
                <a:latin typeface="a시네마B" panose="02020600000000000000" pitchFamily="18" charset="-127"/>
                <a:ea typeface="a시네마B" panose="02020600000000000000" pitchFamily="18" charset="-127"/>
                <a:cs typeface="Lora" pitchFamily="34" charset="-120"/>
              </a:rPr>
              <a:t>:</a:t>
            </a:r>
            <a:endParaRPr lang="en-US" sz="3200" dirty="0">
              <a:latin typeface="a시네마B" panose="02020600000000000000" pitchFamily="18" charset="-127"/>
              <a:ea typeface="a시네마B" panose="02020600000000000000" pitchFamily="18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6324124" y="4910138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ko-KR" altLang="en-US" sz="24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투자</a:t>
            </a:r>
            <a:r>
              <a:rPr lang="en-US" sz="24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: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IoT, AI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개발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,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마케팅을 위한 </a:t>
            </a:r>
            <a:r>
              <a:rPr lang="en-US" altLang="ko-KR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$200K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규모의 초기투자</a:t>
            </a:r>
            <a:endParaRPr lang="en-US" sz="24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6324124" y="5484614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ko-KR" altLang="en-US" sz="24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파트너쉽</a:t>
            </a:r>
            <a:r>
              <a:rPr lang="en-US" sz="24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: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가드닝 커뮤니티 및 관련 브랜드와의 협업</a:t>
            </a:r>
            <a:endParaRPr lang="en-US" sz="24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6324124" y="605040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ko-KR" altLang="en-US" sz="24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채용</a:t>
            </a:r>
            <a:r>
              <a:rPr lang="en-US" sz="2400" b="1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: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개발자 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App/DB/AI(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임베디드는 괜찮습니다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. </a:t>
            </a:r>
            <a:r>
              <a:rPr lang="ko-KR" alt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저에요</a:t>
            </a:r>
            <a:r>
              <a:rPr lang="en-US" sz="2400">
                <a:solidFill>
                  <a:srgbClr val="3A3630"/>
                </a:solidFill>
                <a:latin typeface="a시네마L" panose="02020600000000000000" pitchFamily="18" charset="-127"/>
                <a:ea typeface="a시네마L" panose="02020600000000000000" pitchFamily="18" charset="-127"/>
                <a:cs typeface="Source Sans Pro" pitchFamily="34" charset="-120"/>
              </a:rPr>
              <a:t>.)</a:t>
            </a:r>
            <a:endParaRPr lang="en-US" sz="2400" dirty="0">
              <a:latin typeface="a시네마L" panose="02020600000000000000" pitchFamily="18" charset="-127"/>
              <a:ea typeface="a시네마L" panose="02020600000000000000" pitchFamily="18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456EBFE-DAA5-6009-6EEC-6D1F0FC0E403}"/>
              </a:ext>
            </a:extLst>
          </p:cNvPr>
          <p:cNvSpPr/>
          <p:nvPr/>
        </p:nvSpPr>
        <p:spPr>
          <a:xfrm>
            <a:off x="12207630" y="6916615"/>
            <a:ext cx="2422770" cy="1312985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610AB-A480-F944-D55F-4973B2B2C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6609CAA-84AC-08C9-7A87-C354AEA93823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F57946BB-1376-8E60-AE25-8E8C19C1F716}"/>
              </a:ext>
            </a:extLst>
          </p:cNvPr>
          <p:cNvSpPr/>
          <p:nvPr/>
        </p:nvSpPr>
        <p:spPr>
          <a:xfrm>
            <a:off x="2448509" y="5136303"/>
            <a:ext cx="5484750" cy="2831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altLang="ko-KR" sz="2800">
                <a:solidFill>
                  <a:schemeClr val="bg1"/>
                </a:solidFill>
              </a:rPr>
              <a:t>Name: Baek</a:t>
            </a:r>
            <a:r>
              <a:rPr lang="ko-KR" altLang="en-US" sz="2800">
                <a:solidFill>
                  <a:schemeClr val="bg1"/>
                </a:solidFill>
              </a:rPr>
              <a:t> </a:t>
            </a:r>
            <a:r>
              <a:rPr lang="en-US" altLang="ko-KR" sz="2800">
                <a:solidFill>
                  <a:schemeClr val="bg1"/>
                </a:solidFill>
              </a:rPr>
              <a:t>SangHo</a:t>
            </a:r>
          </a:p>
          <a:p>
            <a:pPr marL="0" indent="0" algn="l">
              <a:lnSpc>
                <a:spcPts val="5500"/>
              </a:lnSpc>
              <a:buNone/>
            </a:pPr>
            <a:r>
              <a:rPr lang="en-US" altLang="ko-KR" sz="2800">
                <a:solidFill>
                  <a:schemeClr val="bg1"/>
                </a:solidFill>
              </a:rPr>
              <a:t>Mail: qqqqmmss11@gmail.com</a:t>
            </a:r>
          </a:p>
          <a:p>
            <a:pPr marL="0" indent="0" algn="l">
              <a:lnSpc>
                <a:spcPts val="5500"/>
              </a:lnSpc>
              <a:buNone/>
            </a:pPr>
            <a:r>
              <a:rPr lang="en-US" altLang="ko-KR" sz="2800">
                <a:solidFill>
                  <a:schemeClr val="bg1"/>
                </a:solidFill>
              </a:rPr>
              <a:t>Github: BigCodult</a:t>
            </a:r>
          </a:p>
          <a:p>
            <a:pPr>
              <a:lnSpc>
                <a:spcPts val="5500"/>
              </a:lnSpc>
            </a:pPr>
            <a:r>
              <a:rPr lang="en-US" altLang="ko-KR" sz="2800">
                <a:solidFill>
                  <a:schemeClr val="bg1"/>
                </a:solidFill>
              </a:rPr>
              <a:t>LinkedIn:</a:t>
            </a:r>
            <a:r>
              <a:rPr lang="ko-KR" altLang="en-US" sz="2800">
                <a:solidFill>
                  <a:schemeClr val="bg1"/>
                </a:solidFill>
              </a:rPr>
              <a:t> </a:t>
            </a:r>
            <a:r>
              <a:rPr lang="en-US" altLang="ko-KR" sz="2800">
                <a:solidFill>
                  <a:schemeClr val="bg1"/>
                </a:solidFill>
              </a:rPr>
              <a:t>sangho baek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8FC68442-CDDC-2307-7C2B-415529F934C7}"/>
              </a:ext>
            </a:extLst>
          </p:cNvPr>
          <p:cNvSpPr/>
          <p:nvPr/>
        </p:nvSpPr>
        <p:spPr>
          <a:xfrm>
            <a:off x="2082716" y="2228151"/>
            <a:ext cx="10907163" cy="2332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5500"/>
              </a:lnSpc>
              <a:buNone/>
            </a:pPr>
            <a:r>
              <a:rPr lang="en-US" sz="13800">
                <a:solidFill>
                  <a:schemeClr val="bg1"/>
                </a:solidFill>
                <a:latin typeface="Vladimir Script" panose="03050402040407070305" pitchFamily="66" charset="0"/>
              </a:rPr>
              <a:t>~Thank You~</a:t>
            </a:r>
            <a:endParaRPr lang="en-US" sz="13800" dirty="0">
              <a:solidFill>
                <a:schemeClr val="bg1"/>
              </a:solidFill>
              <a:latin typeface="Vladimir Script" panose="03050402040407070305" pitchFamily="66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2A85B6E-A9DE-CEA6-2098-64800EF2D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3709" y="4933963"/>
            <a:ext cx="3036241" cy="3036241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B7F26CB1-13AA-4F1E-263F-82004ED75BEA}"/>
              </a:ext>
            </a:extLst>
          </p:cNvPr>
          <p:cNvSpPr/>
          <p:nvPr/>
        </p:nvSpPr>
        <p:spPr>
          <a:xfrm>
            <a:off x="10284512" y="4341471"/>
            <a:ext cx="2705367" cy="666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altLang="ko-KR" sz="4400">
                <a:solidFill>
                  <a:schemeClr val="bg1"/>
                </a:solidFill>
              </a:rPr>
              <a:t>LinkedIn</a:t>
            </a:r>
          </a:p>
          <a:p>
            <a:pPr marL="0" indent="0" algn="l">
              <a:lnSpc>
                <a:spcPts val="5500"/>
              </a:lnSpc>
              <a:buNone/>
            </a:pP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814ACD34-8133-89C4-8464-49BC0A8AFF49}"/>
              </a:ext>
            </a:extLst>
          </p:cNvPr>
          <p:cNvSpPr/>
          <p:nvPr/>
        </p:nvSpPr>
        <p:spPr>
          <a:xfrm>
            <a:off x="0" y="4388858"/>
            <a:ext cx="7890164" cy="1198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650"/>
              </a:lnSpc>
              <a:buNone/>
            </a:pPr>
            <a:r>
              <a:rPr lang="en-US" sz="11500">
                <a:solidFill>
                  <a:srgbClr val="538C0E"/>
                </a:solidFill>
                <a:latin typeface="YouMurderer BB" panose="02000508000000020004" pitchFamily="2" charset="0"/>
                <a:ea typeface="Lora" pitchFamily="34" charset="-122"/>
                <a:cs typeface="Lora" pitchFamily="34" charset="-120"/>
              </a:rPr>
              <a:t>Green Stab!</a:t>
            </a:r>
          </a:p>
        </p:txBody>
      </p:sp>
    </p:spTree>
    <p:extLst>
      <p:ext uri="{BB962C8B-B14F-4D97-AF65-F5344CB8AC3E}">
        <p14:creationId xmlns:p14="http://schemas.microsoft.com/office/powerpoint/2010/main" val="138888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979</TotalTime>
  <Words>594</Words>
  <Application>Microsoft Office PowerPoint</Application>
  <PresentationFormat>사용자 지정</PresentationFormat>
  <Paragraphs>161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YouMurderer BB</vt:lpstr>
      <vt:lpstr>Vladimir Script</vt:lpstr>
      <vt:lpstr>Arial</vt:lpstr>
      <vt:lpstr>a시네마B</vt:lpstr>
      <vt:lpstr>a시네마L</vt:lpstr>
      <vt:lpstr>Lora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CorinE Poor</dc:creator>
  <cp:lastModifiedBy>CorinE Poor</cp:lastModifiedBy>
  <cp:revision>32</cp:revision>
  <dcterms:created xsi:type="dcterms:W3CDTF">2025-07-17T01:09:42Z</dcterms:created>
  <dcterms:modified xsi:type="dcterms:W3CDTF">2025-11-30T03:26:35Z</dcterms:modified>
</cp:coreProperties>
</file>